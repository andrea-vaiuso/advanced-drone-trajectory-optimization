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52" d="100"/>
          <a:sy n="152" d="100"/>
        </p:scale>
        <p:origin x="604" y="1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680ACBA-8129-E9C0-CA81-E8C1D8BF60F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EF410AE9-247B-02F5-17F3-659F1359FB6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it-IT"/>
              <a:t>Fare clic per modificare lo stile del sottotitolo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ECDAEC21-18DB-188E-9C86-CBBC76746D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719BE0-092F-4F2A-B894-44C044C14DA7}" type="datetimeFigureOut">
              <a:rPr lang="it-IT" smtClean="0"/>
              <a:t>07/10/2025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9C516941-8B80-8E17-0852-0697CE7D9E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31F89DD3-4D24-1D68-7F98-A4451A2D43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6FCC9A-351A-4C87-B6C7-A93065BCFE21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42519299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DFB2099-36B1-C1DC-F25F-21993C2D1E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4EDD5258-B12A-31BC-4637-3446A79D5E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09A3B22A-DCB8-CC11-7950-9A912879B3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719BE0-092F-4F2A-B894-44C044C14DA7}" type="datetimeFigureOut">
              <a:rPr lang="it-IT" smtClean="0"/>
              <a:t>07/10/2025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DB52B857-FF94-DB46-9440-8A7BE1737B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69F97CC5-1484-6E4A-4352-92D4E50112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6FCC9A-351A-4C87-B6C7-A93065BCFE21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1161562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D5725E47-B501-C91C-5F6A-AFB3EC3F41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9451AD81-6853-BD66-F4DB-2AD332446A2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60BB9AAF-DAF3-1E78-AE98-B815DF4225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719BE0-092F-4F2A-B894-44C044C14DA7}" type="datetimeFigureOut">
              <a:rPr lang="it-IT" smtClean="0"/>
              <a:t>07/10/2025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EA55752E-7DDE-6ADF-ACD4-0FEE59C3CA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7395AC8D-8E46-072D-EA9E-E3261ED346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6FCC9A-351A-4C87-B6C7-A93065BCFE21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54581404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87E643F-BDB2-D15A-44AF-47082DD19A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4A881F24-6648-4881-F36B-BAE35278A8F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0BAF53B6-7CEF-C710-2936-24A0B34EBDE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2826FBCB-162A-013D-F45C-DC636AAEA4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719BE0-092F-4F2A-B894-44C044C14DA7}" type="datetimeFigureOut">
              <a:rPr lang="it-IT" smtClean="0"/>
              <a:t>07/10/2025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BAE4F57E-9A88-19AA-3A42-B84C520467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8E8C8DCE-8701-9FD8-DDFD-B4521E9B51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6FCC9A-351A-4C87-B6C7-A93065BCFE21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80438764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D6F86573-2B85-C397-4F26-2B7A8CE54C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27F54195-29C3-0A6E-E7B1-8D54C280C12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78F0018A-239D-CC0D-DA44-88079D0E72D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testo 4">
            <a:extLst>
              <a:ext uri="{FF2B5EF4-FFF2-40B4-BE49-F238E27FC236}">
                <a16:creationId xmlns:a16="http://schemas.microsoft.com/office/drawing/2014/main" id="{A496BFC6-2B35-4900-DC7E-D69848F3B3C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6" name="Segnaposto contenuto 5">
            <a:extLst>
              <a:ext uri="{FF2B5EF4-FFF2-40B4-BE49-F238E27FC236}">
                <a16:creationId xmlns:a16="http://schemas.microsoft.com/office/drawing/2014/main" id="{EE6D0EF2-8851-F3B3-9177-79369D5CD55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7" name="Segnaposto data 6">
            <a:extLst>
              <a:ext uri="{FF2B5EF4-FFF2-40B4-BE49-F238E27FC236}">
                <a16:creationId xmlns:a16="http://schemas.microsoft.com/office/drawing/2014/main" id="{70743C59-F10B-C750-03EC-A2B7FEADFC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719BE0-092F-4F2A-B894-44C044C14DA7}" type="datetimeFigureOut">
              <a:rPr lang="it-IT" smtClean="0"/>
              <a:t>07/10/2025</a:t>
            </a:fld>
            <a:endParaRPr lang="it-IT"/>
          </a:p>
        </p:txBody>
      </p:sp>
      <p:sp>
        <p:nvSpPr>
          <p:cNvPr id="8" name="Segnaposto piè di pagina 7">
            <a:extLst>
              <a:ext uri="{FF2B5EF4-FFF2-40B4-BE49-F238E27FC236}">
                <a16:creationId xmlns:a16="http://schemas.microsoft.com/office/drawing/2014/main" id="{D806AC1C-7288-9FC1-EBB8-5F578C8E45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9" name="Segnaposto numero diapositiva 8">
            <a:extLst>
              <a:ext uri="{FF2B5EF4-FFF2-40B4-BE49-F238E27FC236}">
                <a16:creationId xmlns:a16="http://schemas.microsoft.com/office/drawing/2014/main" id="{411FA266-B0F9-3E96-1FA1-174C73ACC9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6FCC9A-351A-4C87-B6C7-A93065BCFE21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81879494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CECE0E04-8310-4B43-269A-399CF18D9C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00FE1F23-D057-3CD0-0017-EA22A54C78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719BE0-092F-4F2A-B894-44C044C14DA7}" type="datetimeFigureOut">
              <a:rPr lang="it-IT" smtClean="0"/>
              <a:t>07/10/2025</a:t>
            </a:fld>
            <a:endParaRPr lang="it-IT"/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323D15DD-351F-FBDB-7B5A-A106AB57E2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A2A6003F-257A-DB02-63A4-E0647F2407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6FCC9A-351A-4C87-B6C7-A93065BCFE21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351187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data 1">
            <a:extLst>
              <a:ext uri="{FF2B5EF4-FFF2-40B4-BE49-F238E27FC236}">
                <a16:creationId xmlns:a16="http://schemas.microsoft.com/office/drawing/2014/main" id="{CCCD6976-14BF-AD65-3239-1489B5A7D0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719BE0-092F-4F2A-B894-44C044C14DA7}" type="datetimeFigureOut">
              <a:rPr lang="it-IT" smtClean="0"/>
              <a:t>07/10/2025</a:t>
            </a:fld>
            <a:endParaRPr lang="it-IT"/>
          </a:p>
        </p:txBody>
      </p:sp>
      <p:sp>
        <p:nvSpPr>
          <p:cNvPr id="3" name="Segnaposto piè di pagina 2">
            <a:extLst>
              <a:ext uri="{FF2B5EF4-FFF2-40B4-BE49-F238E27FC236}">
                <a16:creationId xmlns:a16="http://schemas.microsoft.com/office/drawing/2014/main" id="{F7F3C09C-33CE-35E2-DAF7-B97BEF79BA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86D47E8B-C5B9-2B6B-21B2-F4FC3447C0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6FCC9A-351A-4C87-B6C7-A93065BCFE21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6504951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4745399-E1CE-EA8C-02C1-717C6ADC96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6C4BD85B-D1BB-0DA6-3E5C-5777B343EB0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0A0D2DA3-210B-6996-5309-6F6AD435DCF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CD3F6977-6C21-E28B-84D5-BB59BD8CEF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719BE0-092F-4F2A-B894-44C044C14DA7}" type="datetimeFigureOut">
              <a:rPr lang="it-IT" smtClean="0"/>
              <a:t>07/10/2025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6E1C4B10-0707-E92A-E97B-3964DC0F3B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9EA085E5-BE90-DAF4-3332-9F384A82F1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6FCC9A-351A-4C87-B6C7-A93065BCFE21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1875755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45D6475-FBB2-9DE8-C9E3-67517A3FF3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immagine 2">
            <a:extLst>
              <a:ext uri="{FF2B5EF4-FFF2-40B4-BE49-F238E27FC236}">
                <a16:creationId xmlns:a16="http://schemas.microsoft.com/office/drawing/2014/main" id="{2883965C-5E61-D408-3784-EDE832217D9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it-IT"/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672BE007-00D8-562F-EB71-AF9DCEFFD2D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CC5F0096-08F0-12B3-1597-CDEA62D28D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719BE0-092F-4F2A-B894-44C044C14DA7}" type="datetimeFigureOut">
              <a:rPr lang="it-IT" smtClean="0"/>
              <a:t>07/10/2025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D74870CE-DD09-C48A-E205-6E67C58BAE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B2CEA4FB-3A66-8EA3-EA50-CD506E1B70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6FCC9A-351A-4C87-B6C7-A93065BCFE21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424858687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306E01A-E002-E736-C04F-C9B162CBAC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C97E9A60-2DEA-EA27-A8A1-6C4AD515017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44655FD1-90D7-A332-CA21-E4DA5D99B7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719BE0-092F-4F2A-B894-44C044C14DA7}" type="datetimeFigureOut">
              <a:rPr lang="it-IT" smtClean="0"/>
              <a:t>07/10/2025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3895C723-32A7-1DBC-EA3E-EC70445048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F926B6E2-C3BB-C188-8DE0-A00D424EDB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6FCC9A-351A-4C87-B6C7-A93065BCFE21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20741317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verticale 1">
            <a:extLst>
              <a:ext uri="{FF2B5EF4-FFF2-40B4-BE49-F238E27FC236}">
                <a16:creationId xmlns:a16="http://schemas.microsoft.com/office/drawing/2014/main" id="{78EB00CC-090B-DF5E-2A8A-247C86D3D93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B4EC7974-6413-E0B0-24B4-18E35355110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AE95D497-9667-5B3A-1DEC-BD5D250C76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719BE0-092F-4F2A-B894-44C044C14DA7}" type="datetimeFigureOut">
              <a:rPr lang="it-IT" smtClean="0"/>
              <a:t>07/10/2025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1BDAF3DC-7FF9-6892-0FDC-8CF04CA12E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1E620739-6BB9-1CF6-DA62-EC64AE32D1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76FCC9A-351A-4C87-B6C7-A93065BCFE21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44514200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itolo 1">
            <a:extLst>
              <a:ext uri="{FF2B5EF4-FFF2-40B4-BE49-F238E27FC236}">
                <a16:creationId xmlns:a16="http://schemas.microsoft.com/office/drawing/2014/main" id="{A78DEE1A-590B-ED2F-466E-3115C689BF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378DF134-C037-B165-9771-EF83E676BC5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8BAD054C-4743-21D9-DC38-A59D2F04A46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4719BE0-092F-4F2A-B894-44C044C14DA7}" type="datetimeFigureOut">
              <a:rPr lang="it-IT" smtClean="0"/>
              <a:t>07/10/2025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0D25E94F-3E21-6A89-5AEC-FFB1E2B94E4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8EAA5F8A-58B1-6197-B04F-2FB6CC454FB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76FCC9A-351A-4C87-B6C7-A93065BCFE21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4154763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mdpi.com/2079-9292/10/9/999" TargetMode="Externa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hyperlink" Target="https://proceedings.mlr.press/v202/eimer23a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31" name="Rectangle 1030">
            <a:extLst>
              <a:ext uri="{FF2B5EF4-FFF2-40B4-BE49-F238E27FC236}">
                <a16:creationId xmlns:a16="http://schemas.microsoft.com/office/drawing/2014/main" id="{8A94871E-96FC-4ADE-815B-41A636E34F1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olo 1">
            <a:extLst>
              <a:ext uri="{FF2B5EF4-FFF2-40B4-BE49-F238E27FC236}">
                <a16:creationId xmlns:a16="http://schemas.microsoft.com/office/drawing/2014/main" id="{1B188084-229D-0DA2-6724-91E3E2C5566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0080" y="320040"/>
            <a:ext cx="6692827" cy="3892669"/>
          </a:xfrm>
        </p:spPr>
        <p:txBody>
          <a:bodyPr>
            <a:normAutofit/>
          </a:bodyPr>
          <a:lstStyle/>
          <a:p>
            <a:pPr algn="l"/>
            <a:r>
              <a:rPr lang="en-US" sz="5600"/>
              <a:t>DRone trAjectory and CONtrol optlmisAtioN for noise emissions reduction</a:t>
            </a:r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E0471D99-1787-B1EA-96B1-1CA62ED7A15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40080" y="4631161"/>
            <a:ext cx="6692827" cy="1569486"/>
          </a:xfrm>
        </p:spPr>
        <p:txBody>
          <a:bodyPr>
            <a:normAutofit/>
          </a:bodyPr>
          <a:lstStyle/>
          <a:p>
            <a:pPr algn="l"/>
            <a:r>
              <a:rPr lang="it-IT" dirty="0" err="1"/>
              <a:t>Findings</a:t>
            </a:r>
            <a:r>
              <a:rPr lang="it-IT" dirty="0"/>
              <a:t> Journal, Andrea Vaiuso</a:t>
            </a:r>
            <a:endParaRPr lang="it-IT"/>
          </a:p>
        </p:txBody>
      </p:sp>
      <p:sp>
        <p:nvSpPr>
          <p:cNvPr id="1033" name="sketch line">
            <a:extLst>
              <a:ext uri="{FF2B5EF4-FFF2-40B4-BE49-F238E27FC236}">
                <a16:creationId xmlns:a16="http://schemas.microsoft.com/office/drawing/2014/main" id="{3FCFB1DE-0B7E-48CC-BA90-B2AB0889F9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14562" y="4409267"/>
            <a:ext cx="4243589" cy="18288"/>
          </a:xfrm>
          <a:custGeom>
            <a:avLst/>
            <a:gdLst>
              <a:gd name="connsiteX0" fmla="*/ 0 w 4243589"/>
              <a:gd name="connsiteY0" fmla="*/ 0 h 18288"/>
              <a:gd name="connsiteX1" fmla="*/ 563791 w 4243589"/>
              <a:gd name="connsiteY1" fmla="*/ 0 h 18288"/>
              <a:gd name="connsiteX2" fmla="*/ 1042710 w 4243589"/>
              <a:gd name="connsiteY2" fmla="*/ 0 h 18288"/>
              <a:gd name="connsiteX3" fmla="*/ 1564066 w 4243589"/>
              <a:gd name="connsiteY3" fmla="*/ 0 h 18288"/>
              <a:gd name="connsiteX4" fmla="*/ 2212729 w 4243589"/>
              <a:gd name="connsiteY4" fmla="*/ 0 h 18288"/>
              <a:gd name="connsiteX5" fmla="*/ 2776520 w 4243589"/>
              <a:gd name="connsiteY5" fmla="*/ 0 h 18288"/>
              <a:gd name="connsiteX6" fmla="*/ 3297875 w 4243589"/>
              <a:gd name="connsiteY6" fmla="*/ 0 h 18288"/>
              <a:gd name="connsiteX7" fmla="*/ 4243589 w 4243589"/>
              <a:gd name="connsiteY7" fmla="*/ 0 h 18288"/>
              <a:gd name="connsiteX8" fmla="*/ 4243589 w 4243589"/>
              <a:gd name="connsiteY8" fmla="*/ 18288 h 18288"/>
              <a:gd name="connsiteX9" fmla="*/ 3637362 w 4243589"/>
              <a:gd name="connsiteY9" fmla="*/ 18288 h 18288"/>
              <a:gd name="connsiteX10" fmla="*/ 3116007 w 4243589"/>
              <a:gd name="connsiteY10" fmla="*/ 18288 h 18288"/>
              <a:gd name="connsiteX11" fmla="*/ 2424908 w 4243589"/>
              <a:gd name="connsiteY11" fmla="*/ 18288 h 18288"/>
              <a:gd name="connsiteX12" fmla="*/ 1861117 w 4243589"/>
              <a:gd name="connsiteY12" fmla="*/ 18288 h 18288"/>
              <a:gd name="connsiteX13" fmla="*/ 1382198 w 4243589"/>
              <a:gd name="connsiteY13" fmla="*/ 18288 h 18288"/>
              <a:gd name="connsiteX14" fmla="*/ 733535 w 4243589"/>
              <a:gd name="connsiteY14" fmla="*/ 18288 h 18288"/>
              <a:gd name="connsiteX15" fmla="*/ 0 w 4243589"/>
              <a:gd name="connsiteY15" fmla="*/ 18288 h 18288"/>
              <a:gd name="connsiteX16" fmla="*/ 0 w 4243589"/>
              <a:gd name="connsiteY16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4243589" h="18288" fill="none" extrusionOk="0">
                <a:moveTo>
                  <a:pt x="0" y="0"/>
                </a:moveTo>
                <a:cubicBezTo>
                  <a:pt x="157351" y="-15653"/>
                  <a:pt x="378877" y="-5828"/>
                  <a:pt x="563791" y="0"/>
                </a:cubicBezTo>
                <a:cubicBezTo>
                  <a:pt x="748705" y="5828"/>
                  <a:pt x="905659" y="-5525"/>
                  <a:pt x="1042710" y="0"/>
                </a:cubicBezTo>
                <a:cubicBezTo>
                  <a:pt x="1179761" y="5525"/>
                  <a:pt x="1356845" y="-21288"/>
                  <a:pt x="1564066" y="0"/>
                </a:cubicBezTo>
                <a:cubicBezTo>
                  <a:pt x="1771287" y="21288"/>
                  <a:pt x="1912099" y="25135"/>
                  <a:pt x="2212729" y="0"/>
                </a:cubicBezTo>
                <a:cubicBezTo>
                  <a:pt x="2513359" y="-25135"/>
                  <a:pt x="2514918" y="-27119"/>
                  <a:pt x="2776520" y="0"/>
                </a:cubicBezTo>
                <a:cubicBezTo>
                  <a:pt x="3038122" y="27119"/>
                  <a:pt x="3178771" y="18116"/>
                  <a:pt x="3297875" y="0"/>
                </a:cubicBezTo>
                <a:cubicBezTo>
                  <a:pt x="3416980" y="-18116"/>
                  <a:pt x="4012240" y="-40869"/>
                  <a:pt x="4243589" y="0"/>
                </a:cubicBezTo>
                <a:cubicBezTo>
                  <a:pt x="4243987" y="7429"/>
                  <a:pt x="4243569" y="10822"/>
                  <a:pt x="4243589" y="18288"/>
                </a:cubicBezTo>
                <a:cubicBezTo>
                  <a:pt x="4112949" y="-2855"/>
                  <a:pt x="3928037" y="1831"/>
                  <a:pt x="3637362" y="18288"/>
                </a:cubicBezTo>
                <a:cubicBezTo>
                  <a:pt x="3346687" y="34745"/>
                  <a:pt x="3254446" y="26669"/>
                  <a:pt x="3116007" y="18288"/>
                </a:cubicBezTo>
                <a:cubicBezTo>
                  <a:pt x="2977569" y="9907"/>
                  <a:pt x="2620228" y="28873"/>
                  <a:pt x="2424908" y="18288"/>
                </a:cubicBezTo>
                <a:cubicBezTo>
                  <a:pt x="2229588" y="7703"/>
                  <a:pt x="2088287" y="-3854"/>
                  <a:pt x="1861117" y="18288"/>
                </a:cubicBezTo>
                <a:cubicBezTo>
                  <a:pt x="1633947" y="40430"/>
                  <a:pt x="1502447" y="-871"/>
                  <a:pt x="1382198" y="18288"/>
                </a:cubicBezTo>
                <a:cubicBezTo>
                  <a:pt x="1261949" y="37447"/>
                  <a:pt x="1045440" y="28353"/>
                  <a:pt x="733535" y="18288"/>
                </a:cubicBezTo>
                <a:cubicBezTo>
                  <a:pt x="421630" y="8223"/>
                  <a:pt x="341257" y="-18359"/>
                  <a:pt x="0" y="18288"/>
                </a:cubicBezTo>
                <a:cubicBezTo>
                  <a:pt x="-591" y="13205"/>
                  <a:pt x="-663" y="6329"/>
                  <a:pt x="0" y="0"/>
                </a:cubicBezTo>
                <a:close/>
              </a:path>
              <a:path w="4243589" h="18288" stroke="0" extrusionOk="0">
                <a:moveTo>
                  <a:pt x="0" y="0"/>
                </a:moveTo>
                <a:cubicBezTo>
                  <a:pt x="128164" y="17204"/>
                  <a:pt x="312653" y="1129"/>
                  <a:pt x="563791" y="0"/>
                </a:cubicBezTo>
                <a:cubicBezTo>
                  <a:pt x="814929" y="-1129"/>
                  <a:pt x="837271" y="8503"/>
                  <a:pt x="1042710" y="0"/>
                </a:cubicBezTo>
                <a:cubicBezTo>
                  <a:pt x="1248149" y="-8503"/>
                  <a:pt x="1588432" y="-28862"/>
                  <a:pt x="1733809" y="0"/>
                </a:cubicBezTo>
                <a:cubicBezTo>
                  <a:pt x="1879186" y="28862"/>
                  <a:pt x="2052815" y="5974"/>
                  <a:pt x="2297600" y="0"/>
                </a:cubicBezTo>
                <a:cubicBezTo>
                  <a:pt x="2542385" y="-5974"/>
                  <a:pt x="2699960" y="-23550"/>
                  <a:pt x="2861391" y="0"/>
                </a:cubicBezTo>
                <a:cubicBezTo>
                  <a:pt x="3022822" y="23550"/>
                  <a:pt x="3390411" y="25272"/>
                  <a:pt x="3552490" y="0"/>
                </a:cubicBezTo>
                <a:cubicBezTo>
                  <a:pt x="3714569" y="-25272"/>
                  <a:pt x="3950585" y="-31327"/>
                  <a:pt x="4243589" y="0"/>
                </a:cubicBezTo>
                <a:cubicBezTo>
                  <a:pt x="4242703" y="5429"/>
                  <a:pt x="4244410" y="14046"/>
                  <a:pt x="4243589" y="18288"/>
                </a:cubicBezTo>
                <a:cubicBezTo>
                  <a:pt x="4130424" y="-1240"/>
                  <a:pt x="3932803" y="42249"/>
                  <a:pt x="3722234" y="18288"/>
                </a:cubicBezTo>
                <a:cubicBezTo>
                  <a:pt x="3511665" y="-5673"/>
                  <a:pt x="3269903" y="45994"/>
                  <a:pt x="3116007" y="18288"/>
                </a:cubicBezTo>
                <a:cubicBezTo>
                  <a:pt x="2962111" y="-9418"/>
                  <a:pt x="2744280" y="23224"/>
                  <a:pt x="2509780" y="18288"/>
                </a:cubicBezTo>
                <a:cubicBezTo>
                  <a:pt x="2275280" y="13352"/>
                  <a:pt x="2066059" y="43664"/>
                  <a:pt x="1945989" y="18288"/>
                </a:cubicBezTo>
                <a:cubicBezTo>
                  <a:pt x="1825919" y="-7088"/>
                  <a:pt x="1407329" y="12616"/>
                  <a:pt x="1254890" y="18288"/>
                </a:cubicBezTo>
                <a:cubicBezTo>
                  <a:pt x="1102451" y="23960"/>
                  <a:pt x="837950" y="31673"/>
                  <a:pt x="563791" y="18288"/>
                </a:cubicBezTo>
                <a:cubicBezTo>
                  <a:pt x="289632" y="4903"/>
                  <a:pt x="132768" y="7105"/>
                  <a:pt x="0" y="18288"/>
                </a:cubicBezTo>
                <a:cubicBezTo>
                  <a:pt x="668" y="13665"/>
                  <a:pt x="578" y="5675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38100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6" name="Picture 2" descr="ZHAW Zurich University of Applied Sciences | Green Policy Platform">
            <a:extLst>
              <a:ext uri="{FF2B5EF4-FFF2-40B4-BE49-F238E27FC236}">
                <a16:creationId xmlns:a16="http://schemas.microsoft.com/office/drawing/2014/main" id="{9E2460FC-6DE9-6124-CBE7-A3277D6C0B7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9975986" y="1231320"/>
            <a:ext cx="1207125" cy="16597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74860657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0511B45-1AF4-E972-5D78-4700EE8646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08.2025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FC71F4DC-5C59-E872-9444-BF5D8C4283F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6437" y="1585435"/>
            <a:ext cx="4698769" cy="4638383"/>
          </a:xfrm>
        </p:spPr>
        <p:txBody>
          <a:bodyPr>
            <a:normAutofit fontScale="62500" lnSpcReduction="20000"/>
          </a:bodyPr>
          <a:lstStyle/>
          <a:p>
            <a:r>
              <a:rPr lang="en-US" dirty="0"/>
              <a:t>GWO and PSO have been successfully implemented in drone trajectory optimization. The setting is a 1000x1000m parametrized world, with 10x10m grid sampling for SPL receiver calculation. The drone can move in the continuous space.</a:t>
            </a:r>
          </a:p>
          <a:p>
            <a:r>
              <a:rPr lang="it-IT" dirty="0" err="1"/>
              <a:t>Simplification</a:t>
            </a:r>
            <a:r>
              <a:rPr lang="it-IT" dirty="0"/>
              <a:t> </a:t>
            </a:r>
            <a:r>
              <a:rPr lang="it-IT" dirty="0" err="1"/>
              <a:t>adopted</a:t>
            </a:r>
            <a:r>
              <a:rPr lang="it-IT" dirty="0"/>
              <a:t> to make </a:t>
            </a:r>
            <a:r>
              <a:rPr lang="it-IT" dirty="0" err="1"/>
              <a:t>metaheuristics</a:t>
            </a:r>
            <a:r>
              <a:rPr lang="it-IT" dirty="0"/>
              <a:t> work:</a:t>
            </a:r>
          </a:p>
          <a:p>
            <a:pPr marL="914400" lvl="1" indent="-457200">
              <a:buAutoNum type="arabicPeriod"/>
            </a:pPr>
            <a:r>
              <a:rPr lang="en-US" dirty="0"/>
              <a:t>The trajectory is generated by defining intermediate waypoints between points A and B, which serve as the drone's targets for movement.</a:t>
            </a:r>
          </a:p>
          <a:p>
            <a:pPr marL="914400" lvl="1" indent="-457200">
              <a:buAutoNum type="arabicPeriod"/>
            </a:pPr>
            <a:r>
              <a:rPr lang="en-US" dirty="0"/>
              <a:t>The waypoint coordinates are defined as three-dimensional (x, y, z) perturbations from equidistant basepoints lying on the segment connecting points A and B.</a:t>
            </a:r>
          </a:p>
          <a:p>
            <a:r>
              <a:rPr lang="en-US" dirty="0"/>
              <a:t>The metaheuristics work fine, converge quickly, and they effectively reduce the total cost</a:t>
            </a:r>
          </a:p>
          <a:p>
            <a:r>
              <a:rPr lang="en-US" dirty="0"/>
              <a:t>Maybe exploration should be refined over exploitation, since convergence is “fast” but it remains into suboptimal solutions.</a:t>
            </a:r>
            <a:endParaRPr lang="it-IT" dirty="0"/>
          </a:p>
        </p:txBody>
      </p:sp>
      <p:pic>
        <p:nvPicPr>
          <p:cNvPr id="7" name="Immagine 6" descr="Immagine che contiene testo, schermata, schermo, software">
            <a:extLst>
              <a:ext uri="{FF2B5EF4-FFF2-40B4-BE49-F238E27FC236}">
                <a16:creationId xmlns:a16="http://schemas.microsoft.com/office/drawing/2014/main" id="{42431983-1819-9098-CE86-AF50B35F9FF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63926" y="720149"/>
            <a:ext cx="5593149" cy="3060280"/>
          </a:xfrm>
          <a:prstGeom prst="rect">
            <a:avLst/>
          </a:prstGeom>
        </p:spPr>
      </p:pic>
      <p:pic>
        <p:nvPicPr>
          <p:cNvPr id="9" name="Immagine 8">
            <a:extLst>
              <a:ext uri="{FF2B5EF4-FFF2-40B4-BE49-F238E27FC236}">
                <a16:creationId xmlns:a16="http://schemas.microsoft.com/office/drawing/2014/main" id="{860BF57C-FB7D-B52B-9AC3-FA80B7A73F9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63927" y="3757644"/>
            <a:ext cx="2928187" cy="2735231"/>
          </a:xfrm>
          <a:prstGeom prst="rect">
            <a:avLst/>
          </a:prstGeom>
        </p:spPr>
      </p:pic>
      <p:pic>
        <p:nvPicPr>
          <p:cNvPr id="11" name="Immagine 10">
            <a:extLst>
              <a:ext uri="{FF2B5EF4-FFF2-40B4-BE49-F238E27FC236}">
                <a16:creationId xmlns:a16="http://schemas.microsoft.com/office/drawing/2014/main" id="{23532483-BA86-9AA0-5510-51D6BEC2C5D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85364" y="4049486"/>
            <a:ext cx="2931386" cy="21743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4290670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2012C10F-183A-9544-7DF2-355F7E9FD3A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it-IT" dirty="0"/>
              <a:t>A first </a:t>
            </a:r>
            <a:r>
              <a:rPr lang="it-IT" dirty="0" err="1"/>
              <a:t>implementation</a:t>
            </a:r>
            <a:r>
              <a:rPr lang="it-IT" dirty="0"/>
              <a:t> of DRL (SAC) </a:t>
            </a:r>
            <a:r>
              <a:rPr lang="it-IT" dirty="0" err="1"/>
              <a:t>has</a:t>
            </a:r>
            <a:r>
              <a:rPr lang="it-IT" dirty="0"/>
              <a:t> </a:t>
            </a:r>
            <a:r>
              <a:rPr lang="it-IT" dirty="0" err="1"/>
              <a:t>been</a:t>
            </a:r>
            <a:r>
              <a:rPr lang="it-IT" dirty="0"/>
              <a:t> </a:t>
            </a:r>
            <a:r>
              <a:rPr lang="it-IT" dirty="0" err="1"/>
              <a:t>implemented</a:t>
            </a:r>
            <a:r>
              <a:rPr lang="it-IT" dirty="0"/>
              <a:t>. </a:t>
            </a:r>
          </a:p>
          <a:p>
            <a:r>
              <a:rPr lang="it-IT" dirty="0"/>
              <a:t>The </a:t>
            </a:r>
            <a:r>
              <a:rPr lang="it-IT" dirty="0" err="1"/>
              <a:t>environment</a:t>
            </a:r>
            <a:r>
              <a:rPr lang="it-IT" dirty="0"/>
              <a:t> </a:t>
            </a:r>
            <a:r>
              <a:rPr lang="it-IT" dirty="0" err="1"/>
              <a:t>is</a:t>
            </a:r>
            <a:r>
              <a:rPr lang="it-IT" dirty="0"/>
              <a:t> set </a:t>
            </a:r>
            <a:r>
              <a:rPr lang="it-IT" dirty="0" err="1"/>
              <a:t>as</a:t>
            </a:r>
            <a:r>
              <a:rPr lang="it-IT" dirty="0"/>
              <a:t> following:</a:t>
            </a:r>
          </a:p>
          <a:p>
            <a:pPr lvl="1"/>
            <a:r>
              <a:rPr lang="en-US" b="1" dirty="0"/>
              <a:t>State (observation) vector</a:t>
            </a:r>
            <a:r>
              <a:rPr lang="en-US" dirty="0"/>
              <a:t> – each step exposes the drone’s full simulated state</a:t>
            </a:r>
          </a:p>
          <a:p>
            <a:pPr lvl="1"/>
            <a:r>
              <a:rPr lang="en-US" b="1" dirty="0"/>
              <a:t>Action space</a:t>
            </a:r>
            <a:r>
              <a:rPr lang="en-US" dirty="0"/>
              <a:t> – actions describe perturbations around reference points sampled along the straight start </a:t>
            </a:r>
          </a:p>
          <a:p>
            <a:pPr lvl="2"/>
            <a:r>
              <a:rPr lang="en-US" dirty="0"/>
              <a:t>Per-step actions are clipped against both global bounds and waypoint-specific limits that reuse the metaheuristic bound builders, and they always stay inside the world cube before being converted to absolute waypoints with a commanded speed.</a:t>
            </a:r>
          </a:p>
          <a:p>
            <a:pPr lvl="2"/>
            <a:r>
              <a:rPr lang="en-US" dirty="0"/>
              <a:t>An additional gating dimension lets the SAC policy terminate waypoint proposal early; the environment respects that signal via a configurable threshold, finishing the episode without adding another waypoint.</a:t>
            </a:r>
          </a:p>
          <a:p>
            <a:pPr lvl="2"/>
            <a:r>
              <a:rPr lang="en-US" dirty="0"/>
              <a:t>Each proposed waypoint is immediately simulated as a single-leg flight: the first segment uses the initial state and later legs continue seamlessly; when an episode ends (goal reached, budget exhausted, or agent stops), the environment appends the real target waypoint and replays the terminal leg.</a:t>
            </a:r>
          </a:p>
          <a:p>
            <a:pPr lvl="2"/>
            <a:r>
              <a:rPr lang="en-US" dirty="0"/>
              <a:t>Stored trajectories are always in absolute coordinates.</a:t>
            </a:r>
          </a:p>
          <a:p>
            <a:pPr lvl="1"/>
            <a:r>
              <a:rPr lang="en-US" b="1" dirty="0"/>
              <a:t>Baseline episode</a:t>
            </a:r>
            <a:r>
              <a:rPr lang="en-US" dirty="0"/>
              <a:t> – a helper can be invoked to log the zero-waypoint straight-line flight</a:t>
            </a:r>
            <a:endParaRPr lang="it-IT" dirty="0"/>
          </a:p>
        </p:txBody>
      </p:sp>
      <p:sp>
        <p:nvSpPr>
          <p:cNvPr id="4" name="Titolo 1">
            <a:extLst>
              <a:ext uri="{FF2B5EF4-FFF2-40B4-BE49-F238E27FC236}">
                <a16:creationId xmlns:a16="http://schemas.microsoft.com/office/drawing/2014/main" id="{87B624EA-1EED-8050-E9D6-DFCACA42F4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it-IT" dirty="0"/>
              <a:t>25.09.2025</a:t>
            </a:r>
          </a:p>
        </p:txBody>
      </p:sp>
    </p:spTree>
    <p:extLst>
      <p:ext uri="{BB962C8B-B14F-4D97-AF65-F5344CB8AC3E}">
        <p14:creationId xmlns:p14="http://schemas.microsoft.com/office/powerpoint/2010/main" val="271514339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033438B8-CCC9-1A7E-312E-C977B78E09C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713064"/>
            <a:ext cx="6036578" cy="5463899"/>
          </a:xfrm>
        </p:spPr>
        <p:txBody>
          <a:bodyPr>
            <a:normAutofit fontScale="85000" lnSpcReduction="10000"/>
          </a:bodyPr>
          <a:lstStyle/>
          <a:p>
            <a:r>
              <a:rPr lang="it-IT" dirty="0"/>
              <a:t>First </a:t>
            </a:r>
            <a:r>
              <a:rPr lang="it-IT" dirty="0" err="1"/>
              <a:t>results</a:t>
            </a:r>
            <a:r>
              <a:rPr lang="it-IT" dirty="0"/>
              <a:t> show the agent </a:t>
            </a:r>
            <a:r>
              <a:rPr lang="it-IT" dirty="0" err="1"/>
              <a:t>is</a:t>
            </a:r>
            <a:r>
              <a:rPr lang="it-IT" dirty="0"/>
              <a:t> </a:t>
            </a:r>
            <a:r>
              <a:rPr lang="it-IT" dirty="0" err="1"/>
              <a:t>converging</a:t>
            </a:r>
            <a:r>
              <a:rPr lang="it-IT" dirty="0"/>
              <a:t> </a:t>
            </a:r>
            <a:r>
              <a:rPr lang="it-IT" dirty="0" err="1"/>
              <a:t>quickly</a:t>
            </a:r>
            <a:r>
              <a:rPr lang="it-IT" dirty="0"/>
              <a:t> </a:t>
            </a:r>
            <a:r>
              <a:rPr lang="it-IT" dirty="0" err="1"/>
              <a:t>at</a:t>
            </a:r>
            <a:r>
              <a:rPr lang="it-IT" dirty="0"/>
              <a:t> the </a:t>
            </a:r>
            <a:r>
              <a:rPr lang="it-IT" dirty="0" err="1"/>
              <a:t>beginning</a:t>
            </a:r>
            <a:r>
              <a:rPr lang="it-IT" dirty="0"/>
              <a:t> </a:t>
            </a:r>
            <a:r>
              <a:rPr lang="it-IT" dirty="0" err="1"/>
              <a:t>but</a:t>
            </a:r>
            <a:r>
              <a:rPr lang="it-IT" dirty="0"/>
              <a:t> </a:t>
            </a:r>
            <a:r>
              <a:rPr lang="it-IT" dirty="0" err="1"/>
              <a:t>it</a:t>
            </a:r>
            <a:r>
              <a:rPr lang="it-IT" dirty="0"/>
              <a:t> </a:t>
            </a:r>
            <a:r>
              <a:rPr lang="it-IT" dirty="0" err="1"/>
              <a:t>immediately</a:t>
            </a:r>
            <a:r>
              <a:rPr lang="it-IT" dirty="0"/>
              <a:t> </a:t>
            </a:r>
            <a:r>
              <a:rPr lang="it-IT" dirty="0" err="1"/>
              <a:t>stops</a:t>
            </a:r>
            <a:r>
              <a:rPr lang="it-IT" dirty="0"/>
              <a:t>. </a:t>
            </a:r>
            <a:r>
              <a:rPr lang="it-IT" dirty="0" err="1"/>
              <a:t>Probably</a:t>
            </a:r>
            <a:r>
              <a:rPr lang="it-IT" dirty="0"/>
              <a:t> </a:t>
            </a:r>
            <a:r>
              <a:rPr lang="it-IT" dirty="0" err="1"/>
              <a:t>parameters</a:t>
            </a:r>
            <a:r>
              <a:rPr lang="it-IT" dirty="0"/>
              <a:t> </a:t>
            </a:r>
            <a:r>
              <a:rPr lang="it-IT" dirty="0" err="1"/>
              <a:t>needed</a:t>
            </a:r>
            <a:r>
              <a:rPr lang="it-IT" dirty="0"/>
              <a:t> to be </a:t>
            </a:r>
            <a:r>
              <a:rPr lang="it-IT" dirty="0" err="1"/>
              <a:t>tuned</a:t>
            </a:r>
            <a:r>
              <a:rPr lang="it-IT" dirty="0"/>
              <a:t>/</a:t>
            </a:r>
            <a:r>
              <a:rPr lang="it-IT" dirty="0" err="1"/>
              <a:t>exploration</a:t>
            </a:r>
            <a:r>
              <a:rPr lang="it-IT" dirty="0"/>
              <a:t> </a:t>
            </a:r>
            <a:r>
              <a:rPr lang="it-IT" dirty="0" err="1"/>
              <a:t>needs</a:t>
            </a:r>
            <a:r>
              <a:rPr lang="it-IT" dirty="0"/>
              <a:t> to be </a:t>
            </a:r>
            <a:r>
              <a:rPr lang="it-IT" dirty="0" err="1"/>
              <a:t>increased</a:t>
            </a:r>
            <a:endParaRPr lang="it-IT" dirty="0"/>
          </a:p>
          <a:p>
            <a:r>
              <a:rPr lang="it-IT" dirty="0"/>
              <a:t>The </a:t>
            </a:r>
            <a:r>
              <a:rPr lang="it-IT" dirty="0" err="1"/>
              <a:t>problem</a:t>
            </a:r>
            <a:r>
              <a:rPr lang="it-IT" dirty="0"/>
              <a:t> </a:t>
            </a:r>
            <a:r>
              <a:rPr lang="it-IT" dirty="0" err="1"/>
              <a:t>could</a:t>
            </a:r>
            <a:r>
              <a:rPr lang="it-IT" dirty="0"/>
              <a:t> be </a:t>
            </a:r>
            <a:r>
              <a:rPr lang="it-IT" dirty="0" err="1"/>
              <a:t>formulated</a:t>
            </a:r>
            <a:r>
              <a:rPr lang="it-IT" dirty="0"/>
              <a:t> in </a:t>
            </a:r>
            <a:r>
              <a:rPr lang="it-IT" dirty="0" err="1"/>
              <a:t>another</a:t>
            </a:r>
            <a:r>
              <a:rPr lang="it-IT" dirty="0"/>
              <a:t> way: The action </a:t>
            </a:r>
            <a:r>
              <a:rPr lang="it-IT" dirty="0" err="1"/>
              <a:t>could</a:t>
            </a:r>
            <a:r>
              <a:rPr lang="it-IT" dirty="0"/>
              <a:t> set the position of the </a:t>
            </a:r>
            <a:r>
              <a:rPr lang="it-IT" dirty="0" err="1"/>
              <a:t>dynamic</a:t>
            </a:r>
            <a:r>
              <a:rPr lang="it-IT" dirty="0"/>
              <a:t> target </a:t>
            </a:r>
            <a:r>
              <a:rPr lang="it-IT" dirty="0" err="1"/>
              <a:t>every</a:t>
            </a:r>
            <a:r>
              <a:rPr lang="it-IT" dirty="0"/>
              <a:t> x steps. </a:t>
            </a:r>
            <a:r>
              <a:rPr lang="it-IT" dirty="0" err="1"/>
              <a:t>Reward</a:t>
            </a:r>
            <a:r>
              <a:rPr lang="it-IT" dirty="0"/>
              <a:t> can be </a:t>
            </a:r>
            <a:r>
              <a:rPr lang="it-IT" dirty="0" err="1"/>
              <a:t>calculated</a:t>
            </a:r>
            <a:r>
              <a:rPr lang="it-IT" dirty="0"/>
              <a:t> </a:t>
            </a:r>
            <a:r>
              <a:rPr lang="it-IT" dirty="0" err="1"/>
              <a:t>based</a:t>
            </a:r>
            <a:r>
              <a:rPr lang="it-IT" dirty="0"/>
              <a:t> on the cost </a:t>
            </a:r>
            <a:r>
              <a:rPr lang="it-IT" dirty="0" err="1"/>
              <a:t>function</a:t>
            </a:r>
            <a:r>
              <a:rPr lang="it-IT" dirty="0"/>
              <a:t> and the </a:t>
            </a:r>
            <a:r>
              <a:rPr lang="it-IT" dirty="0" err="1"/>
              <a:t>distance</a:t>
            </a:r>
            <a:r>
              <a:rPr lang="it-IT" dirty="0"/>
              <a:t> from the target.</a:t>
            </a:r>
          </a:p>
          <a:p>
            <a:r>
              <a:rPr lang="it-IT" dirty="0"/>
              <a:t>A </a:t>
            </a:r>
            <a:r>
              <a:rPr lang="it-IT" dirty="0" err="1"/>
              <a:t>main</a:t>
            </a:r>
            <a:r>
              <a:rPr lang="it-IT" dirty="0"/>
              <a:t> </a:t>
            </a:r>
            <a:r>
              <a:rPr lang="it-IT" dirty="0" err="1"/>
              <a:t>finding</a:t>
            </a:r>
            <a:r>
              <a:rPr lang="it-IT" dirty="0"/>
              <a:t>: a big </a:t>
            </a:r>
            <a:r>
              <a:rPr lang="it-IT" dirty="0" err="1"/>
              <a:t>difficulty</a:t>
            </a:r>
            <a:r>
              <a:rPr lang="it-IT" dirty="0"/>
              <a:t> with RL </a:t>
            </a:r>
            <a:r>
              <a:rPr lang="it-IT" dirty="0" err="1"/>
              <a:t>is</a:t>
            </a:r>
            <a:r>
              <a:rPr lang="it-IT" dirty="0"/>
              <a:t> the </a:t>
            </a:r>
            <a:r>
              <a:rPr lang="it-IT" dirty="0" err="1"/>
              <a:t>problem</a:t>
            </a:r>
            <a:r>
              <a:rPr lang="it-IT" dirty="0"/>
              <a:t> </a:t>
            </a:r>
            <a:r>
              <a:rPr lang="it-IT" dirty="0" err="1"/>
              <a:t>formulation</a:t>
            </a:r>
            <a:r>
              <a:rPr lang="it-IT" dirty="0"/>
              <a:t>. </a:t>
            </a:r>
            <a:r>
              <a:rPr lang="it-IT" dirty="0" err="1"/>
              <a:t>It</a:t>
            </a:r>
            <a:r>
              <a:rPr lang="it-IT" dirty="0"/>
              <a:t> can be </a:t>
            </a:r>
            <a:r>
              <a:rPr lang="it-IT" dirty="0" err="1"/>
              <a:t>formulated</a:t>
            </a:r>
            <a:r>
              <a:rPr lang="it-IT" dirty="0"/>
              <a:t> in </a:t>
            </a:r>
            <a:r>
              <a:rPr lang="it-IT" dirty="0" err="1"/>
              <a:t>very</a:t>
            </a:r>
            <a:r>
              <a:rPr lang="it-IT" dirty="0"/>
              <a:t> </a:t>
            </a:r>
            <a:r>
              <a:rPr lang="it-IT" dirty="0" err="1"/>
              <a:t>different</a:t>
            </a:r>
            <a:r>
              <a:rPr lang="it-IT" dirty="0"/>
              <a:t> ways and </a:t>
            </a:r>
            <a:r>
              <a:rPr lang="it-IT" dirty="0" err="1"/>
              <a:t>you</a:t>
            </a:r>
            <a:r>
              <a:rPr lang="it-IT" dirty="0"/>
              <a:t> </a:t>
            </a:r>
            <a:r>
              <a:rPr lang="it-IT" dirty="0" err="1"/>
              <a:t>cannot</a:t>
            </a:r>
            <a:r>
              <a:rPr lang="it-IT" dirty="0"/>
              <a:t> </a:t>
            </a:r>
            <a:r>
              <a:rPr lang="it-IT" dirty="0" err="1"/>
              <a:t>say</a:t>
            </a:r>
            <a:r>
              <a:rPr lang="it-IT" dirty="0"/>
              <a:t> </a:t>
            </a:r>
            <a:r>
              <a:rPr lang="it-IT" dirty="0" err="1"/>
              <a:t>which</a:t>
            </a:r>
            <a:r>
              <a:rPr lang="it-IT" dirty="0"/>
              <a:t> </a:t>
            </a:r>
            <a:r>
              <a:rPr lang="it-IT" dirty="0" err="1"/>
              <a:t>is</a:t>
            </a:r>
            <a:r>
              <a:rPr lang="it-IT" dirty="0"/>
              <a:t> the best. </a:t>
            </a:r>
            <a:r>
              <a:rPr lang="it-IT" dirty="0" err="1"/>
              <a:t>We</a:t>
            </a:r>
            <a:r>
              <a:rPr lang="it-IT" dirty="0"/>
              <a:t> </a:t>
            </a:r>
            <a:r>
              <a:rPr lang="it-IT" dirty="0" err="1"/>
              <a:t>need</a:t>
            </a:r>
            <a:r>
              <a:rPr lang="it-IT" dirty="0"/>
              <a:t> literature review on </a:t>
            </a:r>
            <a:r>
              <a:rPr lang="it-IT" dirty="0" err="1"/>
              <a:t>that</a:t>
            </a:r>
            <a:r>
              <a:rPr lang="it-IT" dirty="0"/>
              <a:t>.</a:t>
            </a:r>
          </a:p>
          <a:p>
            <a:r>
              <a:rPr lang="it-IT" dirty="0" err="1"/>
              <a:t>Another</a:t>
            </a:r>
            <a:r>
              <a:rPr lang="it-IT" dirty="0"/>
              <a:t> </a:t>
            </a:r>
            <a:r>
              <a:rPr lang="it-IT" dirty="0" err="1"/>
              <a:t>difficulty</a:t>
            </a:r>
            <a:r>
              <a:rPr lang="it-IT" dirty="0"/>
              <a:t> </a:t>
            </a:r>
            <a:r>
              <a:rPr lang="it-IT" dirty="0" err="1"/>
              <a:t>is</a:t>
            </a:r>
            <a:r>
              <a:rPr lang="it-IT" dirty="0"/>
              <a:t> </a:t>
            </a:r>
            <a:r>
              <a:rPr lang="it-IT" dirty="0" err="1"/>
              <a:t>finding</a:t>
            </a:r>
            <a:r>
              <a:rPr lang="it-IT" dirty="0"/>
              <a:t> a rule to set the gain to the cost </a:t>
            </a:r>
            <a:r>
              <a:rPr lang="it-IT" dirty="0" err="1"/>
              <a:t>function</a:t>
            </a:r>
            <a:endParaRPr lang="it-IT" dirty="0"/>
          </a:p>
        </p:txBody>
      </p:sp>
      <p:pic>
        <p:nvPicPr>
          <p:cNvPr id="8" name="Immagine 7" descr="Immagine che contiene testo, linea, schermata, Diagramma&#10;&#10;Il contenuto generato dall'IA potrebbe non essere corretto.">
            <a:extLst>
              <a:ext uri="{FF2B5EF4-FFF2-40B4-BE49-F238E27FC236}">
                <a16:creationId xmlns:a16="http://schemas.microsoft.com/office/drawing/2014/main" id="{4B42231E-B469-15C6-7010-F554B48D12E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31839" y="636525"/>
            <a:ext cx="4733318" cy="3160028"/>
          </a:xfrm>
          <a:prstGeom prst="rect">
            <a:avLst/>
          </a:prstGeom>
        </p:spPr>
      </p:pic>
      <p:sp>
        <p:nvSpPr>
          <p:cNvPr id="9" name="CasellaDiTesto 8">
            <a:extLst>
              <a:ext uri="{FF2B5EF4-FFF2-40B4-BE49-F238E27FC236}">
                <a16:creationId xmlns:a16="http://schemas.microsoft.com/office/drawing/2014/main" id="{CF95144F-74F2-0627-1021-4E142E0E77E7}"/>
              </a:ext>
            </a:extLst>
          </p:cNvPr>
          <p:cNvSpPr txBox="1"/>
          <p:nvPr/>
        </p:nvSpPr>
        <p:spPr>
          <a:xfrm>
            <a:off x="7654748" y="3737378"/>
            <a:ext cx="28507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dirty="0" err="1"/>
              <a:t>Avg</a:t>
            </a:r>
            <a:r>
              <a:rPr lang="de-CH" dirty="0"/>
              <a:t> </a:t>
            </a:r>
            <a:r>
              <a:rPr lang="de-CH" dirty="0" err="1"/>
              <a:t>episode</a:t>
            </a:r>
            <a:r>
              <a:rPr lang="de-CH" dirty="0"/>
              <a:t> time: 66.034s</a:t>
            </a: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261492113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ED27D83F-8C7B-A1A7-0FEC-6B9397C161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30.09.2025 – SAC </a:t>
            </a:r>
            <a:r>
              <a:rPr lang="it-IT" dirty="0" err="1"/>
              <a:t>Results</a:t>
            </a:r>
            <a:r>
              <a:rPr lang="it-IT" dirty="0"/>
              <a:t>:</a:t>
            </a:r>
          </a:p>
        </p:txBody>
      </p:sp>
      <p:pic>
        <p:nvPicPr>
          <p:cNvPr id="5" name="Immagine 4" descr="Immagine che contiene testo, schermata, diagramma, linea&#10;&#10;Il contenuto generato dall'IA potrebbe non essere corretto.">
            <a:extLst>
              <a:ext uri="{FF2B5EF4-FFF2-40B4-BE49-F238E27FC236}">
                <a16:creationId xmlns:a16="http://schemas.microsoft.com/office/drawing/2014/main" id="{807C1F37-88A2-C773-EAC7-CD3D57537A5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8909" y="1537459"/>
            <a:ext cx="6705962" cy="3669153"/>
          </a:xfrm>
          <a:prstGeom prst="rect">
            <a:avLst/>
          </a:prstGeom>
        </p:spPr>
      </p:pic>
      <p:pic>
        <p:nvPicPr>
          <p:cNvPr id="7" name="Immagine 6">
            <a:extLst>
              <a:ext uri="{FF2B5EF4-FFF2-40B4-BE49-F238E27FC236}">
                <a16:creationId xmlns:a16="http://schemas.microsoft.com/office/drawing/2014/main" id="{3A5762B4-FB11-CE8C-E453-C22F4FE9528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83550" y="192610"/>
            <a:ext cx="3509203" cy="3327010"/>
          </a:xfrm>
          <a:prstGeom prst="rect">
            <a:avLst/>
          </a:prstGeom>
        </p:spPr>
      </p:pic>
      <p:pic>
        <p:nvPicPr>
          <p:cNvPr id="9" name="Immagine 8">
            <a:extLst>
              <a:ext uri="{FF2B5EF4-FFF2-40B4-BE49-F238E27FC236}">
                <a16:creationId xmlns:a16="http://schemas.microsoft.com/office/drawing/2014/main" id="{53CEF7CA-01BB-9A46-66C6-18FE28A9A51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62660" y="3656536"/>
            <a:ext cx="3430093" cy="2763816"/>
          </a:xfrm>
          <a:prstGeom prst="rect">
            <a:avLst/>
          </a:prstGeom>
        </p:spPr>
      </p:pic>
      <p:sp>
        <p:nvSpPr>
          <p:cNvPr id="10" name="CasellaDiTesto 9">
            <a:extLst>
              <a:ext uri="{FF2B5EF4-FFF2-40B4-BE49-F238E27FC236}">
                <a16:creationId xmlns:a16="http://schemas.microsoft.com/office/drawing/2014/main" id="{BA4D92BC-8B69-27F4-43D6-F46F294E668A}"/>
              </a:ext>
            </a:extLst>
          </p:cNvPr>
          <p:cNvSpPr txBox="1"/>
          <p:nvPr/>
        </p:nvSpPr>
        <p:spPr>
          <a:xfrm>
            <a:off x="699247" y="5288272"/>
            <a:ext cx="32093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CH" dirty="0"/>
              <a:t>Total time: </a:t>
            </a:r>
            <a:r>
              <a:rPr lang="de-CH" dirty="0" err="1"/>
              <a:t>around</a:t>
            </a:r>
            <a:r>
              <a:rPr lang="de-CH" dirty="0"/>
              <a:t> 5h (315min)</a:t>
            </a:r>
            <a:endParaRPr lang="it-IT" dirty="0"/>
          </a:p>
        </p:txBody>
      </p:sp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13E19332-7508-B0F7-0871-2B27B03F8BDC}"/>
              </a:ext>
            </a:extLst>
          </p:cNvPr>
          <p:cNvSpPr txBox="1"/>
          <p:nvPr/>
        </p:nvSpPr>
        <p:spPr>
          <a:xfrm>
            <a:off x="699247" y="5753586"/>
            <a:ext cx="634252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de-CH" dirty="0" err="1"/>
              <a:t>It</a:t>
            </a:r>
            <a:r>
              <a:rPr lang="de-CH" dirty="0"/>
              <a:t> </a:t>
            </a:r>
            <a:r>
              <a:rPr lang="de-CH" dirty="0" err="1"/>
              <a:t>would</a:t>
            </a:r>
            <a:r>
              <a:rPr lang="de-CH" dirty="0"/>
              <a:t> </a:t>
            </a:r>
            <a:r>
              <a:rPr lang="de-CH" dirty="0" err="1"/>
              <a:t>maybe</a:t>
            </a:r>
            <a:r>
              <a:rPr lang="de-CH" dirty="0"/>
              <a:t> </a:t>
            </a:r>
            <a:r>
              <a:rPr lang="de-CH" dirty="0" err="1"/>
              <a:t>make</a:t>
            </a:r>
            <a:r>
              <a:rPr lang="de-CH" dirty="0"/>
              <a:t> sense </a:t>
            </a:r>
            <a:r>
              <a:rPr lang="de-CH" dirty="0" err="1"/>
              <a:t>to</a:t>
            </a:r>
            <a:r>
              <a:rPr lang="de-CH" dirty="0"/>
              <a:t> </a:t>
            </a:r>
            <a:r>
              <a:rPr lang="de-CH" dirty="0" err="1"/>
              <a:t>provide</a:t>
            </a:r>
            <a:r>
              <a:rPr lang="de-CH" dirty="0"/>
              <a:t> </a:t>
            </a:r>
            <a:r>
              <a:rPr lang="de-CH" dirty="0" err="1"/>
              <a:t>to</a:t>
            </a:r>
            <a:r>
              <a:rPr lang="de-CH" dirty="0"/>
              <a:t> </a:t>
            </a:r>
            <a:r>
              <a:rPr lang="de-CH" dirty="0" err="1"/>
              <a:t>the</a:t>
            </a:r>
            <a:r>
              <a:rPr lang="de-CH" dirty="0"/>
              <a:t> </a:t>
            </a:r>
            <a:r>
              <a:rPr lang="de-CH" dirty="0" err="1"/>
              <a:t>algorithm</a:t>
            </a:r>
            <a:r>
              <a:rPr lang="de-CH" dirty="0"/>
              <a:t> an initial human </a:t>
            </a:r>
            <a:r>
              <a:rPr lang="de-CH" dirty="0" err="1"/>
              <a:t>guess</a:t>
            </a:r>
            <a:r>
              <a:rPr lang="de-CH" dirty="0"/>
              <a:t>?</a:t>
            </a: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87221503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9D885924-DD14-C22B-48A9-047F1AA5E9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30.09.2025 – </a:t>
            </a:r>
            <a:r>
              <a:rPr lang="it-IT" dirty="0" err="1"/>
              <a:t>Biggest</a:t>
            </a:r>
            <a:r>
              <a:rPr lang="it-IT" dirty="0"/>
              <a:t> </a:t>
            </a:r>
            <a:r>
              <a:rPr lang="it-IT" dirty="0" err="1"/>
              <a:t>difficulties</a:t>
            </a:r>
            <a:endParaRPr lang="it-IT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588D0D3E-B561-E673-1690-EEF37442683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it-IT" b="1" dirty="0" err="1"/>
              <a:t>Problem</a:t>
            </a:r>
            <a:r>
              <a:rPr lang="it-IT" b="1" dirty="0"/>
              <a:t>: </a:t>
            </a:r>
            <a:r>
              <a:rPr lang="it-IT" dirty="0"/>
              <a:t>RL can be </a:t>
            </a:r>
            <a:r>
              <a:rPr lang="it-IT" dirty="0" err="1"/>
              <a:t>implemented</a:t>
            </a:r>
            <a:r>
              <a:rPr lang="it-IT" dirty="0"/>
              <a:t>, </a:t>
            </a:r>
            <a:r>
              <a:rPr lang="it-IT" dirty="0" err="1"/>
              <a:t>but</a:t>
            </a:r>
            <a:r>
              <a:rPr lang="it-IT" dirty="0"/>
              <a:t> </a:t>
            </a:r>
            <a:r>
              <a:rPr lang="it-IT" dirty="0" err="1"/>
              <a:t>it’s</a:t>
            </a:r>
            <a:r>
              <a:rPr lang="it-IT" dirty="0"/>
              <a:t> reliability </a:t>
            </a:r>
            <a:r>
              <a:rPr lang="it-IT" dirty="0" err="1"/>
              <a:t>higly</a:t>
            </a:r>
            <a:r>
              <a:rPr lang="it-IT" dirty="0"/>
              <a:t> </a:t>
            </a:r>
            <a:r>
              <a:rPr lang="it-IT" dirty="0" err="1"/>
              <a:t>depends</a:t>
            </a:r>
            <a:r>
              <a:rPr lang="it-IT" dirty="0"/>
              <a:t> on </a:t>
            </a:r>
            <a:r>
              <a:rPr lang="it-IT" dirty="0" err="1"/>
              <a:t>hyperparameter</a:t>
            </a:r>
            <a:r>
              <a:rPr lang="it-IT" dirty="0"/>
              <a:t> tuning. </a:t>
            </a:r>
            <a:r>
              <a:rPr lang="it-IT" b="1" dirty="0" err="1"/>
              <a:t>Possible</a:t>
            </a:r>
            <a:r>
              <a:rPr lang="it-IT" b="1" dirty="0"/>
              <a:t> </a:t>
            </a:r>
            <a:r>
              <a:rPr lang="it-IT" b="1" dirty="0" err="1"/>
              <a:t>solution</a:t>
            </a:r>
            <a:r>
              <a:rPr lang="it-IT" b="1" dirty="0"/>
              <a:t>:</a:t>
            </a:r>
            <a:r>
              <a:rPr lang="it-IT" dirty="0"/>
              <a:t> </a:t>
            </a:r>
            <a:r>
              <a:rPr lang="it-IT" dirty="0" err="1"/>
              <a:t>Optimization</a:t>
            </a:r>
            <a:r>
              <a:rPr lang="it-IT" dirty="0"/>
              <a:t> </a:t>
            </a:r>
            <a:r>
              <a:rPr lang="it-IT" dirty="0" err="1"/>
              <a:t>could</a:t>
            </a:r>
            <a:r>
              <a:rPr lang="it-IT" dirty="0"/>
              <a:t> be </a:t>
            </a:r>
            <a:r>
              <a:rPr lang="it-IT" dirty="0" err="1"/>
              <a:t>considered</a:t>
            </a:r>
            <a:r>
              <a:rPr lang="it-IT" dirty="0"/>
              <a:t>, like </a:t>
            </a:r>
            <a:r>
              <a:rPr lang="it-IT" dirty="0" err="1"/>
              <a:t>Optuna</a:t>
            </a:r>
            <a:r>
              <a:rPr lang="it-IT" dirty="0"/>
              <a:t>.</a:t>
            </a:r>
          </a:p>
          <a:p>
            <a:r>
              <a:rPr lang="it-IT" b="1" dirty="0" err="1"/>
              <a:t>Problem</a:t>
            </a:r>
            <a:r>
              <a:rPr lang="it-IT" b="1" dirty="0"/>
              <a:t>: </a:t>
            </a:r>
            <a:r>
              <a:rPr lang="it-IT" dirty="0" err="1"/>
              <a:t>There</a:t>
            </a:r>
            <a:r>
              <a:rPr lang="it-IT" dirty="0"/>
              <a:t> are no </a:t>
            </a:r>
            <a:r>
              <a:rPr lang="it-IT" dirty="0" err="1"/>
              <a:t>clue</a:t>
            </a:r>
            <a:r>
              <a:rPr lang="it-IT" dirty="0"/>
              <a:t> on </a:t>
            </a:r>
            <a:r>
              <a:rPr lang="it-IT" dirty="0" err="1"/>
              <a:t>how</a:t>
            </a:r>
            <a:r>
              <a:rPr lang="it-IT" dirty="0"/>
              <a:t> to set cost </a:t>
            </a:r>
            <a:r>
              <a:rPr lang="it-IT" dirty="0" err="1"/>
              <a:t>function</a:t>
            </a:r>
            <a:r>
              <a:rPr lang="it-IT" dirty="0"/>
              <a:t> weight to </a:t>
            </a:r>
            <a:r>
              <a:rPr lang="it-IT" dirty="0" err="1"/>
              <a:t>mimic</a:t>
            </a:r>
            <a:r>
              <a:rPr lang="it-IT" dirty="0"/>
              <a:t> the </a:t>
            </a:r>
            <a:r>
              <a:rPr lang="it-IT" dirty="0" err="1"/>
              <a:t>real</a:t>
            </a:r>
            <a:r>
              <a:rPr lang="it-IT" dirty="0"/>
              <a:t> </a:t>
            </a:r>
            <a:r>
              <a:rPr lang="it-IT" dirty="0" err="1"/>
              <a:t>necessities</a:t>
            </a:r>
            <a:r>
              <a:rPr lang="it-IT" dirty="0"/>
              <a:t>.</a:t>
            </a:r>
          </a:p>
          <a:p>
            <a:r>
              <a:rPr lang="it-IT" b="1" dirty="0" err="1"/>
              <a:t>Problem</a:t>
            </a:r>
            <a:r>
              <a:rPr lang="it-IT" b="1" dirty="0"/>
              <a:t>: </a:t>
            </a:r>
            <a:r>
              <a:rPr lang="it-IT" dirty="0" err="1"/>
              <a:t>Simulation</a:t>
            </a:r>
            <a:r>
              <a:rPr lang="it-IT" dirty="0"/>
              <a:t>-to-reality gap. </a:t>
            </a:r>
            <a:r>
              <a:rPr lang="it-IT" b="1" dirty="0" err="1"/>
              <a:t>Possible</a:t>
            </a:r>
            <a:r>
              <a:rPr lang="it-IT" b="1" dirty="0"/>
              <a:t> </a:t>
            </a:r>
            <a:r>
              <a:rPr lang="it-IT" b="1" dirty="0" err="1"/>
              <a:t>solution</a:t>
            </a:r>
            <a:r>
              <a:rPr lang="it-IT" b="1" dirty="0"/>
              <a:t>: </a:t>
            </a:r>
            <a:r>
              <a:rPr lang="en-US" dirty="0"/>
              <a:t>Develop better </a:t>
            </a:r>
            <a:r>
              <a:rPr lang="en-US" i="1" dirty="0">
                <a:hlinkClick r:id="rId2"/>
              </a:rPr>
              <a:t>sim-to-real transfer </a:t>
            </a:r>
            <a:r>
              <a:rPr lang="en-US" dirty="0">
                <a:hlinkClick r:id="rId2"/>
              </a:rPr>
              <a:t>methods</a:t>
            </a:r>
            <a:endParaRPr lang="en-US" dirty="0"/>
          </a:p>
          <a:p>
            <a:r>
              <a:rPr lang="en-US" b="1" dirty="0"/>
              <a:t>Problem:</a:t>
            </a:r>
            <a:r>
              <a:rPr lang="en-US" dirty="0"/>
              <a:t> The agent cannot generalize in multiple maps. It’s logically </a:t>
            </a:r>
            <a:r>
              <a:rPr lang="en-US" dirty="0" err="1"/>
              <a:t>nosense</a:t>
            </a:r>
            <a:r>
              <a:rPr lang="en-US" dirty="0"/>
              <a:t> thinking that it could just following this procedure or similar ones.</a:t>
            </a:r>
            <a:endParaRPr lang="it-IT" b="1" dirty="0"/>
          </a:p>
        </p:txBody>
      </p:sp>
    </p:spTree>
    <p:extLst>
      <p:ext uri="{BB962C8B-B14F-4D97-AF65-F5344CB8AC3E}">
        <p14:creationId xmlns:p14="http://schemas.microsoft.com/office/powerpoint/2010/main" val="309038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79BC1B2C-6698-C27E-DCE4-3BC75E8946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01.10.2025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EBE3B6A8-BB0E-D0F1-91A0-79DE6DB1408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7019365" cy="1854387"/>
          </a:xfrm>
        </p:spPr>
        <p:txBody>
          <a:bodyPr>
            <a:normAutofit fontScale="92500" lnSpcReduction="10000"/>
          </a:bodyPr>
          <a:lstStyle/>
          <a:p>
            <a:r>
              <a:rPr lang="it-IT" dirty="0"/>
              <a:t>New </a:t>
            </a:r>
            <a:r>
              <a:rPr lang="it-IT" dirty="0" err="1"/>
              <a:t>results</a:t>
            </a:r>
            <a:r>
              <a:rPr lang="it-IT" dirty="0"/>
              <a:t> from SAC </a:t>
            </a:r>
            <a:r>
              <a:rPr lang="it-IT" dirty="0" err="1"/>
              <a:t>when</a:t>
            </a:r>
            <a:r>
              <a:rPr lang="it-IT" dirty="0"/>
              <a:t> </a:t>
            </a:r>
            <a:r>
              <a:rPr lang="it-IT" dirty="0" err="1"/>
              <a:t>applying</a:t>
            </a:r>
            <a:r>
              <a:rPr lang="it-IT" dirty="0"/>
              <a:t> </a:t>
            </a:r>
            <a:r>
              <a:rPr lang="it-IT" dirty="0" err="1"/>
              <a:t>all</a:t>
            </a:r>
            <a:r>
              <a:rPr lang="it-IT" dirty="0"/>
              <a:t> the «</a:t>
            </a:r>
            <a:r>
              <a:rPr lang="it-IT" dirty="0" err="1"/>
              <a:t>tricks</a:t>
            </a:r>
            <a:r>
              <a:rPr lang="it-IT" dirty="0"/>
              <a:t>»</a:t>
            </a:r>
          </a:p>
          <a:p>
            <a:r>
              <a:rPr lang="it-IT" dirty="0"/>
              <a:t>The </a:t>
            </a:r>
            <a:r>
              <a:rPr lang="it-IT" dirty="0" err="1"/>
              <a:t>trajectory</a:t>
            </a:r>
            <a:r>
              <a:rPr lang="it-IT" dirty="0"/>
              <a:t> </a:t>
            </a:r>
            <a:r>
              <a:rPr lang="it-IT" dirty="0" err="1"/>
              <a:t>still</a:t>
            </a:r>
            <a:r>
              <a:rPr lang="it-IT" dirty="0"/>
              <a:t> </a:t>
            </a:r>
            <a:r>
              <a:rPr lang="it-IT" dirty="0" err="1"/>
              <a:t>doesn’t</a:t>
            </a:r>
            <a:r>
              <a:rPr lang="it-IT" dirty="0"/>
              <a:t> look like the best. </a:t>
            </a:r>
            <a:r>
              <a:rPr lang="it-IT" dirty="0" err="1"/>
              <a:t>It’s</a:t>
            </a:r>
            <a:r>
              <a:rPr lang="it-IT" dirty="0"/>
              <a:t> the cost </a:t>
            </a:r>
            <a:r>
              <a:rPr lang="it-IT" dirty="0" err="1"/>
              <a:t>function</a:t>
            </a:r>
            <a:r>
              <a:rPr lang="it-IT" dirty="0"/>
              <a:t> </a:t>
            </a:r>
            <a:r>
              <a:rPr lang="it-IT" dirty="0" err="1"/>
              <a:t>definition</a:t>
            </a:r>
            <a:r>
              <a:rPr lang="it-IT" dirty="0"/>
              <a:t>? Or the agent </a:t>
            </a:r>
            <a:r>
              <a:rPr lang="it-IT" dirty="0" err="1"/>
              <a:t>parameters</a:t>
            </a:r>
            <a:r>
              <a:rPr lang="it-IT" dirty="0"/>
              <a:t>?</a:t>
            </a:r>
          </a:p>
        </p:txBody>
      </p:sp>
      <p:pic>
        <p:nvPicPr>
          <p:cNvPr id="5" name="Immagine 4">
            <a:extLst>
              <a:ext uri="{FF2B5EF4-FFF2-40B4-BE49-F238E27FC236}">
                <a16:creationId xmlns:a16="http://schemas.microsoft.com/office/drawing/2014/main" id="{4DDFBB93-10AB-76C7-AD59-134ED799C5C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3639" y="121431"/>
            <a:ext cx="3623413" cy="3495828"/>
          </a:xfrm>
          <a:prstGeom prst="rect">
            <a:avLst/>
          </a:prstGeom>
        </p:spPr>
      </p:pic>
      <p:pic>
        <p:nvPicPr>
          <p:cNvPr id="8" name="Immagine 7" descr="Immagine che contiene testo, schermata, diagramma, linea&#10;&#10;Il contenuto generato dall'IA potrebbe non essere corretto.">
            <a:extLst>
              <a:ext uri="{FF2B5EF4-FFF2-40B4-BE49-F238E27FC236}">
                <a16:creationId xmlns:a16="http://schemas.microsoft.com/office/drawing/2014/main" id="{7B87D59F-152A-7013-6363-727D83FEA57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34923" y="3751640"/>
            <a:ext cx="5214478" cy="2853091"/>
          </a:xfrm>
          <a:prstGeom prst="rect">
            <a:avLst/>
          </a:prstGeom>
        </p:spPr>
      </p:pic>
      <p:pic>
        <p:nvPicPr>
          <p:cNvPr id="10" name="Immagine 9">
            <a:extLst>
              <a:ext uri="{FF2B5EF4-FFF2-40B4-BE49-F238E27FC236}">
                <a16:creationId xmlns:a16="http://schemas.microsoft.com/office/drawing/2014/main" id="{A84F708B-D05D-4D1F-0C28-C33B926CF41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49839" y="3751640"/>
            <a:ext cx="3623413" cy="28485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874302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4AA08B5-F048-99AE-4C39-A8F6116CAC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02.10.2025</a:t>
            </a:r>
            <a:endParaRPr lang="it-IT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A085208B-ECB6-FD95-8CBD-257A69B863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441887"/>
          </a:xfrm>
        </p:spPr>
        <p:txBody>
          <a:bodyPr/>
          <a:lstStyle/>
          <a:p>
            <a:r>
              <a:rPr lang="it-IT"/>
              <a:t>GWO has been also bugfixed and executed. RL is performing better! Now it’s time to make it performing even better</a:t>
            </a:r>
          </a:p>
          <a:p>
            <a:r>
              <a:rPr lang="it-IT"/>
              <a:t>GWO Results:</a:t>
            </a:r>
            <a:endParaRPr lang="it-IT" dirty="0"/>
          </a:p>
        </p:txBody>
      </p:sp>
      <p:pic>
        <p:nvPicPr>
          <p:cNvPr id="5" name="Immagine 4">
            <a:extLst>
              <a:ext uri="{FF2B5EF4-FFF2-40B4-BE49-F238E27FC236}">
                <a16:creationId xmlns:a16="http://schemas.microsoft.com/office/drawing/2014/main" id="{A82705D7-5E2D-E321-23B4-296902DC485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3544375"/>
            <a:ext cx="5031539" cy="2746073"/>
          </a:xfrm>
          <a:prstGeom prst="rect">
            <a:avLst/>
          </a:prstGeom>
        </p:spPr>
      </p:pic>
      <p:pic>
        <p:nvPicPr>
          <p:cNvPr id="7" name="Immagine 6">
            <a:extLst>
              <a:ext uri="{FF2B5EF4-FFF2-40B4-BE49-F238E27FC236}">
                <a16:creationId xmlns:a16="http://schemas.microsoft.com/office/drawing/2014/main" id="{5FDC3141-454E-6EA4-EB8A-1B60BBCA568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88741" y="3429000"/>
            <a:ext cx="3063534" cy="28685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742462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3F0375E-A1F6-E754-F855-D62704A706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06.10.2025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DCF485A5-CEB2-2CA1-C80B-340E18CCE87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it-IT" dirty="0" err="1"/>
              <a:t>Another</a:t>
            </a:r>
            <a:r>
              <a:rPr lang="it-IT" dirty="0"/>
              <a:t> </a:t>
            </a:r>
            <a:r>
              <a:rPr lang="it-IT" dirty="0" err="1"/>
              <a:t>doubt</a:t>
            </a:r>
            <a:r>
              <a:rPr lang="it-IT" dirty="0"/>
              <a:t>. </a:t>
            </a:r>
            <a:r>
              <a:rPr lang="it-IT" dirty="0" err="1"/>
              <a:t>Should</a:t>
            </a:r>
            <a:r>
              <a:rPr lang="it-IT" dirty="0"/>
              <a:t> I include </a:t>
            </a:r>
            <a:r>
              <a:rPr lang="it-IT" dirty="0" err="1"/>
              <a:t>distance</a:t>
            </a:r>
            <a:r>
              <a:rPr lang="it-IT" dirty="0"/>
              <a:t> from </a:t>
            </a:r>
            <a:r>
              <a:rPr lang="it-IT" dirty="0" err="1"/>
              <a:t>final</a:t>
            </a:r>
            <a:r>
              <a:rPr lang="it-IT" dirty="0"/>
              <a:t> target to the RL </a:t>
            </a:r>
            <a:r>
              <a:rPr lang="it-IT" dirty="0" err="1"/>
              <a:t>reward</a:t>
            </a:r>
            <a:r>
              <a:rPr lang="it-IT" dirty="0"/>
              <a:t>? </a:t>
            </a:r>
            <a:r>
              <a:rPr lang="it-IT" dirty="0" err="1"/>
              <a:t>It’s</a:t>
            </a:r>
            <a:r>
              <a:rPr lang="it-IT" dirty="0"/>
              <a:t> </a:t>
            </a:r>
            <a:r>
              <a:rPr lang="it-IT" dirty="0" err="1"/>
              <a:t>probably</a:t>
            </a:r>
            <a:r>
              <a:rPr lang="it-IT" dirty="0"/>
              <a:t> </a:t>
            </a:r>
            <a:r>
              <a:rPr lang="it-IT" dirty="0" err="1"/>
              <a:t>strictly</a:t>
            </a:r>
            <a:r>
              <a:rPr lang="it-IT" dirty="0"/>
              <a:t> </a:t>
            </a:r>
            <a:r>
              <a:rPr lang="it-IT" dirty="0" err="1"/>
              <a:t>not</a:t>
            </a:r>
            <a:r>
              <a:rPr lang="it-IT" dirty="0"/>
              <a:t> </a:t>
            </a:r>
            <a:r>
              <a:rPr lang="it-IT" dirty="0" err="1"/>
              <a:t>necessary</a:t>
            </a:r>
            <a:r>
              <a:rPr lang="it-IT" dirty="0"/>
              <a:t>, </a:t>
            </a:r>
            <a:r>
              <a:rPr lang="it-IT" dirty="0" err="1"/>
              <a:t>but</a:t>
            </a:r>
            <a:r>
              <a:rPr lang="it-IT" dirty="0"/>
              <a:t> </a:t>
            </a:r>
            <a:r>
              <a:rPr lang="it-IT" dirty="0" err="1"/>
              <a:t>should</a:t>
            </a:r>
            <a:r>
              <a:rPr lang="it-IT" dirty="0"/>
              <a:t> be </a:t>
            </a:r>
            <a:r>
              <a:rPr lang="it-IT" dirty="0" err="1"/>
              <a:t>worth</a:t>
            </a:r>
            <a:r>
              <a:rPr lang="it-IT" dirty="0"/>
              <a:t> </a:t>
            </a:r>
            <a:r>
              <a:rPr lang="it-IT" dirty="0" err="1"/>
              <a:t>it</a:t>
            </a:r>
            <a:r>
              <a:rPr lang="it-IT" dirty="0"/>
              <a:t> to check </a:t>
            </a:r>
            <a:r>
              <a:rPr lang="it-IT" dirty="0" err="1"/>
              <a:t>if</a:t>
            </a:r>
            <a:r>
              <a:rPr lang="it-IT" dirty="0"/>
              <a:t> </a:t>
            </a:r>
            <a:r>
              <a:rPr lang="it-IT" dirty="0" err="1"/>
              <a:t>it</a:t>
            </a:r>
            <a:r>
              <a:rPr lang="it-IT" dirty="0"/>
              <a:t> </a:t>
            </a:r>
            <a:r>
              <a:rPr lang="it-IT" dirty="0" err="1"/>
              <a:t>could</a:t>
            </a:r>
            <a:r>
              <a:rPr lang="it-IT" dirty="0"/>
              <a:t> </a:t>
            </a:r>
            <a:r>
              <a:rPr lang="it-IT" dirty="0" err="1"/>
              <a:t>improve</a:t>
            </a:r>
            <a:r>
              <a:rPr lang="it-IT" dirty="0"/>
              <a:t> </a:t>
            </a:r>
            <a:r>
              <a:rPr lang="it-IT" dirty="0" err="1"/>
              <a:t>convergence</a:t>
            </a:r>
            <a:r>
              <a:rPr lang="it-IT" dirty="0"/>
              <a:t>? </a:t>
            </a:r>
            <a:r>
              <a:rPr lang="it-IT" dirty="0" err="1"/>
              <a:t>Probably</a:t>
            </a:r>
            <a:r>
              <a:rPr lang="it-IT" dirty="0"/>
              <a:t> </a:t>
            </a:r>
            <a:r>
              <a:rPr lang="it-IT" dirty="0" err="1"/>
              <a:t>it</a:t>
            </a:r>
            <a:r>
              <a:rPr lang="it-IT" dirty="0"/>
              <a:t> </a:t>
            </a:r>
            <a:r>
              <a:rPr lang="it-IT" dirty="0" err="1"/>
              <a:t>would</a:t>
            </a:r>
            <a:r>
              <a:rPr lang="it-IT" dirty="0"/>
              <a:t> be good for </a:t>
            </a:r>
            <a:r>
              <a:rPr lang="it-IT" dirty="0" err="1"/>
              <a:t>generalization</a:t>
            </a:r>
            <a:r>
              <a:rPr lang="it-IT" dirty="0"/>
              <a:t> (</a:t>
            </a:r>
            <a:r>
              <a:rPr lang="it-IT" dirty="0" err="1"/>
              <a:t>that</a:t>
            </a:r>
            <a:r>
              <a:rPr lang="it-IT" dirty="0"/>
              <a:t> </a:t>
            </a:r>
            <a:r>
              <a:rPr lang="it-IT" dirty="0" err="1"/>
              <a:t>anyway</a:t>
            </a:r>
            <a:r>
              <a:rPr lang="it-IT" dirty="0"/>
              <a:t> </a:t>
            </a:r>
            <a:r>
              <a:rPr lang="it-IT" dirty="0" err="1"/>
              <a:t>cannot</a:t>
            </a:r>
            <a:r>
              <a:rPr lang="it-IT" dirty="0"/>
              <a:t> be </a:t>
            </a:r>
            <a:r>
              <a:rPr lang="it-IT" dirty="0" err="1"/>
              <a:t>accomplished</a:t>
            </a:r>
            <a:r>
              <a:rPr lang="it-IT" dirty="0"/>
              <a:t> in </a:t>
            </a:r>
            <a:r>
              <a:rPr lang="it-IT" dirty="0" err="1"/>
              <a:t>this</a:t>
            </a:r>
            <a:r>
              <a:rPr lang="it-IT" dirty="0"/>
              <a:t> </a:t>
            </a:r>
            <a:r>
              <a:rPr lang="it-IT" dirty="0" err="1"/>
              <a:t>context</a:t>
            </a:r>
            <a:r>
              <a:rPr lang="it-IT"/>
              <a:t>).</a:t>
            </a:r>
            <a:endParaRPr lang="it-IT" dirty="0"/>
          </a:p>
        </p:txBody>
      </p:sp>
    </p:spTree>
    <p:extLst>
      <p:ext uri="{BB962C8B-B14F-4D97-AF65-F5344CB8AC3E}">
        <p14:creationId xmlns:p14="http://schemas.microsoft.com/office/powerpoint/2010/main" val="386653500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D6A34C9-C5CC-7329-B5F8-42A9BBC4DD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07.10.2025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B18B4973-78BB-271D-9BBB-8A38F1AEAC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it-IT" dirty="0"/>
              <a:t>Some </a:t>
            </a:r>
            <a:r>
              <a:rPr lang="it-IT" dirty="0" err="1"/>
              <a:t>considerations</a:t>
            </a:r>
            <a:r>
              <a:rPr lang="it-IT" dirty="0"/>
              <a:t> </a:t>
            </a:r>
            <a:r>
              <a:rPr lang="it-IT" dirty="0" err="1"/>
              <a:t>about</a:t>
            </a:r>
            <a:r>
              <a:rPr lang="it-IT" dirty="0"/>
              <a:t> </a:t>
            </a:r>
            <a:r>
              <a:rPr lang="it-IT" dirty="0" err="1"/>
              <a:t>hyperparameter</a:t>
            </a:r>
            <a:r>
              <a:rPr lang="it-IT" dirty="0"/>
              <a:t> tuning:</a:t>
            </a:r>
          </a:p>
          <a:p>
            <a:pPr lvl="1"/>
            <a:r>
              <a:rPr lang="it-IT" dirty="0" err="1"/>
              <a:t>You</a:t>
            </a:r>
            <a:r>
              <a:rPr lang="it-IT" dirty="0"/>
              <a:t> </a:t>
            </a:r>
            <a:r>
              <a:rPr lang="it-IT" dirty="0" err="1"/>
              <a:t>cannot</a:t>
            </a:r>
            <a:r>
              <a:rPr lang="it-IT" dirty="0"/>
              <a:t> trust </a:t>
            </a:r>
            <a:r>
              <a:rPr lang="it-IT" dirty="0" err="1"/>
              <a:t>initial</a:t>
            </a:r>
            <a:r>
              <a:rPr lang="it-IT" dirty="0"/>
              <a:t> </a:t>
            </a:r>
            <a:r>
              <a:rPr lang="it-IT" dirty="0" err="1"/>
              <a:t>curves</a:t>
            </a:r>
            <a:r>
              <a:rPr lang="it-IT" dirty="0"/>
              <a:t> </a:t>
            </a:r>
            <a:r>
              <a:rPr lang="it-IT" dirty="0" err="1"/>
              <a:t>because</a:t>
            </a:r>
            <a:r>
              <a:rPr lang="it-IT" dirty="0"/>
              <a:t> </a:t>
            </a:r>
            <a:r>
              <a:rPr lang="it-IT" dirty="0" err="1"/>
              <a:t>it</a:t>
            </a:r>
            <a:r>
              <a:rPr lang="it-IT" dirty="0"/>
              <a:t> </a:t>
            </a:r>
            <a:r>
              <a:rPr lang="it-IT" dirty="0" err="1"/>
              <a:t>cannot</a:t>
            </a:r>
            <a:r>
              <a:rPr lang="it-IT" dirty="0"/>
              <a:t> </a:t>
            </a:r>
            <a:r>
              <a:rPr lang="it-IT" dirty="0" err="1"/>
              <a:t>say</a:t>
            </a:r>
            <a:r>
              <a:rPr lang="it-IT" dirty="0"/>
              <a:t> </a:t>
            </a:r>
            <a:r>
              <a:rPr lang="it-IT" dirty="0" err="1"/>
              <a:t>if</a:t>
            </a:r>
            <a:r>
              <a:rPr lang="it-IT" dirty="0"/>
              <a:t> the </a:t>
            </a:r>
            <a:r>
              <a:rPr lang="it-IT" dirty="0" err="1"/>
              <a:t>optimization</a:t>
            </a:r>
            <a:r>
              <a:rPr lang="it-IT" dirty="0"/>
              <a:t> </a:t>
            </a:r>
            <a:r>
              <a:rPr lang="it-IT" dirty="0" err="1"/>
              <a:t>will</a:t>
            </a:r>
            <a:r>
              <a:rPr lang="it-IT" dirty="0"/>
              <a:t> </a:t>
            </a:r>
            <a:r>
              <a:rPr lang="it-IT" dirty="0" err="1"/>
              <a:t>eventually</a:t>
            </a:r>
            <a:r>
              <a:rPr lang="it-IT" dirty="0"/>
              <a:t> drop </a:t>
            </a:r>
            <a:r>
              <a:rPr lang="it-IT" dirty="0" err="1"/>
              <a:t>later</a:t>
            </a:r>
            <a:r>
              <a:rPr lang="it-IT" dirty="0"/>
              <a:t>.</a:t>
            </a:r>
          </a:p>
          <a:p>
            <a:pPr lvl="1"/>
            <a:r>
              <a:rPr lang="it-IT" dirty="0" err="1"/>
              <a:t>It’s</a:t>
            </a:r>
            <a:r>
              <a:rPr lang="it-IT" dirty="0"/>
              <a:t> </a:t>
            </a:r>
            <a:r>
              <a:rPr lang="it-IT" dirty="0" err="1"/>
              <a:t>important</a:t>
            </a:r>
            <a:r>
              <a:rPr lang="it-IT" dirty="0"/>
              <a:t> to </a:t>
            </a:r>
            <a:r>
              <a:rPr lang="it-IT" dirty="0" err="1"/>
              <a:t>measure</a:t>
            </a:r>
            <a:r>
              <a:rPr lang="it-IT" dirty="0"/>
              <a:t> standard </a:t>
            </a:r>
            <a:r>
              <a:rPr lang="it-IT" dirty="0" err="1"/>
              <a:t>deviation</a:t>
            </a:r>
            <a:r>
              <a:rPr lang="it-IT" dirty="0"/>
              <a:t> with </a:t>
            </a:r>
            <a:r>
              <a:rPr lang="it-IT" dirty="0" err="1"/>
              <a:t>seeds</a:t>
            </a:r>
            <a:r>
              <a:rPr lang="it-IT" dirty="0"/>
              <a:t> with a </a:t>
            </a:r>
            <a:r>
              <a:rPr lang="it-IT" dirty="0" err="1"/>
              <a:t>certain</a:t>
            </a:r>
            <a:r>
              <a:rPr lang="it-IT" dirty="0"/>
              <a:t> </a:t>
            </a:r>
            <a:r>
              <a:rPr lang="it-IT" dirty="0" err="1"/>
              <a:t>configuration</a:t>
            </a:r>
            <a:r>
              <a:rPr lang="it-IT" dirty="0"/>
              <a:t> </a:t>
            </a:r>
            <a:r>
              <a:rPr lang="it-IT" dirty="0" err="1"/>
              <a:t>is</a:t>
            </a:r>
            <a:r>
              <a:rPr lang="it-IT" dirty="0"/>
              <a:t> </a:t>
            </a:r>
            <a:r>
              <a:rPr lang="it-IT" dirty="0" err="1"/>
              <a:t>chosen</a:t>
            </a:r>
            <a:r>
              <a:rPr lang="it-IT" dirty="0"/>
              <a:t> (some </a:t>
            </a:r>
            <a:r>
              <a:rPr lang="it-IT" dirty="0" err="1"/>
              <a:t>configurations</a:t>
            </a:r>
            <a:r>
              <a:rPr lang="it-IT" dirty="0"/>
              <a:t> can generate </a:t>
            </a:r>
            <a:r>
              <a:rPr lang="it-IT" dirty="0" err="1"/>
              <a:t>instable</a:t>
            </a:r>
            <a:r>
              <a:rPr lang="it-IT" dirty="0"/>
              <a:t> models or </a:t>
            </a:r>
            <a:r>
              <a:rPr lang="it-IT" dirty="0" err="1"/>
              <a:t>overfitted</a:t>
            </a:r>
            <a:r>
              <a:rPr lang="it-IT" dirty="0"/>
              <a:t> on a </a:t>
            </a:r>
            <a:r>
              <a:rPr lang="it-IT" dirty="0" err="1"/>
              <a:t>seed</a:t>
            </a:r>
            <a:r>
              <a:rPr lang="it-IT" dirty="0"/>
              <a:t>)</a:t>
            </a:r>
          </a:p>
          <a:p>
            <a:pPr lvl="1"/>
            <a:r>
              <a:rPr lang="it-IT" dirty="0"/>
              <a:t>Focus on </a:t>
            </a:r>
            <a:r>
              <a:rPr lang="it-IT" dirty="0" err="1"/>
              <a:t>hyperparameters</a:t>
            </a:r>
            <a:r>
              <a:rPr lang="it-IT" dirty="0"/>
              <a:t> </a:t>
            </a:r>
            <a:r>
              <a:rPr lang="it-IT" dirty="0" err="1"/>
              <a:t>that</a:t>
            </a:r>
            <a:r>
              <a:rPr lang="it-IT" dirty="0"/>
              <a:t> </a:t>
            </a:r>
            <a:r>
              <a:rPr lang="it-IT" dirty="0" err="1"/>
              <a:t>have</a:t>
            </a:r>
            <a:r>
              <a:rPr lang="it-IT" dirty="0"/>
              <a:t> the </a:t>
            </a:r>
            <a:r>
              <a:rPr lang="it-IT" dirty="0" err="1"/>
              <a:t>strongest</a:t>
            </a:r>
            <a:r>
              <a:rPr lang="it-IT" dirty="0"/>
              <a:t> impact</a:t>
            </a:r>
          </a:p>
          <a:p>
            <a:pPr lvl="1"/>
            <a:r>
              <a:rPr lang="it-IT" dirty="0"/>
              <a:t>Use Area Under the Curve (AUC) </a:t>
            </a:r>
            <a:r>
              <a:rPr lang="it-IT" dirty="0" err="1"/>
              <a:t>that</a:t>
            </a:r>
            <a:r>
              <a:rPr lang="it-IT" dirty="0"/>
              <a:t> </a:t>
            </a:r>
            <a:r>
              <a:rPr lang="it-IT" dirty="0" err="1"/>
              <a:t>captures</a:t>
            </a:r>
            <a:r>
              <a:rPr lang="it-IT" dirty="0"/>
              <a:t> </a:t>
            </a:r>
            <a:r>
              <a:rPr lang="it-IT" dirty="0" err="1"/>
              <a:t>both</a:t>
            </a:r>
            <a:r>
              <a:rPr lang="it-IT" dirty="0"/>
              <a:t> learning speed and best cost. </a:t>
            </a:r>
            <a:r>
              <a:rPr lang="it-IT" dirty="0" err="1"/>
              <a:t>It</a:t>
            </a:r>
            <a:r>
              <a:rPr lang="it-IT" dirty="0"/>
              <a:t> can be </a:t>
            </a:r>
            <a:r>
              <a:rPr lang="it-IT" dirty="0" err="1"/>
              <a:t>normalized</a:t>
            </a:r>
            <a:r>
              <a:rPr lang="it-IT" dirty="0"/>
              <a:t> by the duration to </a:t>
            </a:r>
            <a:r>
              <a:rPr lang="it-IT" dirty="0" err="1"/>
              <a:t>get</a:t>
            </a:r>
            <a:r>
              <a:rPr lang="it-IT" dirty="0"/>
              <a:t> the </a:t>
            </a:r>
            <a:r>
              <a:rPr lang="it-IT" dirty="0" err="1"/>
              <a:t>average</a:t>
            </a:r>
            <a:r>
              <a:rPr lang="it-IT" dirty="0"/>
              <a:t> over time.</a:t>
            </a:r>
          </a:p>
          <a:p>
            <a:r>
              <a:rPr lang="it-IT" dirty="0"/>
              <a:t>Source: </a:t>
            </a:r>
            <a:r>
              <a:rPr lang="it-IT" dirty="0">
                <a:hlinkClick r:id="rId2"/>
              </a:rPr>
              <a:t>https://proceedings.mlr.press/v202/eimer23a</a:t>
            </a:r>
            <a:r>
              <a:rPr lang="it-IT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123277170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790</Words>
  <Application>Microsoft Office PowerPoint</Application>
  <PresentationFormat>Widescreen</PresentationFormat>
  <Paragraphs>47</Paragraphs>
  <Slides>10</Slides>
  <Notes>0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3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10</vt:i4>
      </vt:variant>
    </vt:vector>
  </HeadingPairs>
  <TitlesOfParts>
    <vt:vector size="14" baseType="lpstr">
      <vt:lpstr>Aptos</vt:lpstr>
      <vt:lpstr>Aptos Display</vt:lpstr>
      <vt:lpstr>Arial</vt:lpstr>
      <vt:lpstr>Tema di Office</vt:lpstr>
      <vt:lpstr>DRone trAjectory and CONtrol optlmisAtioN for noise emissions reduction</vt:lpstr>
      <vt:lpstr>08.2025</vt:lpstr>
      <vt:lpstr>25.09.2025</vt:lpstr>
      <vt:lpstr>Presentazione standard di PowerPoint</vt:lpstr>
      <vt:lpstr>30.09.2025 – SAC Results:</vt:lpstr>
      <vt:lpstr>30.09.2025 – Biggest difficulties</vt:lpstr>
      <vt:lpstr>01.10.2025</vt:lpstr>
      <vt:lpstr>02.10.2025</vt:lpstr>
      <vt:lpstr>06.10.2025</vt:lpstr>
      <vt:lpstr>07.10.2025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Vaiuso Andrea (vaiu)</dc:creator>
  <cp:lastModifiedBy>Vaiuso Andrea (vaiu)</cp:lastModifiedBy>
  <cp:revision>8</cp:revision>
  <dcterms:created xsi:type="dcterms:W3CDTF">2025-09-29T13:25:55Z</dcterms:created>
  <dcterms:modified xsi:type="dcterms:W3CDTF">2025-10-16T14:37:20Z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10d9bad3-6dac-4e9a-89a3-89f3b8d247b2_Enabled">
    <vt:lpwstr>true</vt:lpwstr>
  </property>
  <property fmtid="{D5CDD505-2E9C-101B-9397-08002B2CF9AE}" pid="3" name="MSIP_Label_10d9bad3-6dac-4e9a-89a3-89f3b8d247b2_SetDate">
    <vt:lpwstr>2025-09-29T13:49:56Z</vt:lpwstr>
  </property>
  <property fmtid="{D5CDD505-2E9C-101B-9397-08002B2CF9AE}" pid="4" name="MSIP_Label_10d9bad3-6dac-4e9a-89a3-89f3b8d247b2_Method">
    <vt:lpwstr>Standard</vt:lpwstr>
  </property>
  <property fmtid="{D5CDD505-2E9C-101B-9397-08002B2CF9AE}" pid="5" name="MSIP_Label_10d9bad3-6dac-4e9a-89a3-89f3b8d247b2_Name">
    <vt:lpwstr>10d9bad3-6dac-4e9a-89a3-89f3b8d247b2</vt:lpwstr>
  </property>
  <property fmtid="{D5CDD505-2E9C-101B-9397-08002B2CF9AE}" pid="6" name="MSIP_Label_10d9bad3-6dac-4e9a-89a3-89f3b8d247b2_SiteId">
    <vt:lpwstr>5d1a9f9d-201f-4a10-b983-451cf65cbc1e</vt:lpwstr>
  </property>
  <property fmtid="{D5CDD505-2E9C-101B-9397-08002B2CF9AE}" pid="7" name="MSIP_Label_10d9bad3-6dac-4e9a-89a3-89f3b8d247b2_ActionId">
    <vt:lpwstr>773a05f4-9983-4d37-b62f-63b9af426354</vt:lpwstr>
  </property>
  <property fmtid="{D5CDD505-2E9C-101B-9397-08002B2CF9AE}" pid="8" name="MSIP_Label_10d9bad3-6dac-4e9a-89a3-89f3b8d247b2_ContentBits">
    <vt:lpwstr>0</vt:lpwstr>
  </property>
  <property fmtid="{D5CDD505-2E9C-101B-9397-08002B2CF9AE}" pid="9" name="MSIP_Label_10d9bad3-6dac-4e9a-89a3-89f3b8d247b2_Tag">
    <vt:lpwstr>10, 3, 0, 1</vt:lpwstr>
  </property>
</Properties>
</file>