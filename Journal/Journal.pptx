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50" d="100"/>
          <a:sy n="150" d="100"/>
        </p:scale>
        <p:origin x="654" y="1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680ACBA-8129-E9C0-CA81-E8C1D8BF60FE}"/>
              </a:ext>
            </a:extLst>
          </p:cNvPr>
          <p:cNvSpPr>
            <a:spLocks noGrp="1"/>
          </p:cNvSpPr>
          <p:nvPr>
            <p:ph type="ctrTitle"/>
          </p:nvPr>
        </p:nvSpPr>
        <p:spPr>
          <a:xfrm>
            <a:off x="1524000" y="1122363"/>
            <a:ext cx="9144000" cy="2387600"/>
          </a:xfrm>
        </p:spPr>
        <p:txBody>
          <a:bodyPr anchor="b"/>
          <a:lstStyle>
            <a:lvl1pPr algn="ctr">
              <a:defRPr sz="6000"/>
            </a:lvl1pPr>
          </a:lstStyle>
          <a:p>
            <a:r>
              <a:rPr lang="it-IT"/>
              <a:t>Fare clic per modificare lo stile del titolo dello schema</a:t>
            </a:r>
          </a:p>
        </p:txBody>
      </p:sp>
      <p:sp>
        <p:nvSpPr>
          <p:cNvPr id="3" name="Sottotitolo 2">
            <a:extLst>
              <a:ext uri="{FF2B5EF4-FFF2-40B4-BE49-F238E27FC236}">
                <a16:creationId xmlns:a16="http://schemas.microsoft.com/office/drawing/2014/main" id="{EF410AE9-247B-02F5-17F3-659F1359FB6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p>
        </p:txBody>
      </p:sp>
      <p:sp>
        <p:nvSpPr>
          <p:cNvPr id="4" name="Segnaposto data 3">
            <a:extLst>
              <a:ext uri="{FF2B5EF4-FFF2-40B4-BE49-F238E27FC236}">
                <a16:creationId xmlns:a16="http://schemas.microsoft.com/office/drawing/2014/main" id="{ECDAEC21-18DB-188E-9C86-CBBC76746D65}"/>
              </a:ext>
            </a:extLst>
          </p:cNvPr>
          <p:cNvSpPr>
            <a:spLocks noGrp="1"/>
          </p:cNvSpPr>
          <p:nvPr>
            <p:ph type="dt" sz="half" idx="10"/>
          </p:nvPr>
        </p:nvSpPr>
        <p:spPr/>
        <p:txBody>
          <a:bodyPr/>
          <a:lstStyle/>
          <a:p>
            <a:fld id="{34719BE0-092F-4F2A-B894-44C044C14DA7}" type="datetimeFigureOut">
              <a:rPr lang="it-IT" smtClean="0"/>
              <a:t>29/10/2025</a:t>
            </a:fld>
            <a:endParaRPr lang="it-IT"/>
          </a:p>
        </p:txBody>
      </p:sp>
      <p:sp>
        <p:nvSpPr>
          <p:cNvPr id="5" name="Segnaposto piè di pagina 4">
            <a:extLst>
              <a:ext uri="{FF2B5EF4-FFF2-40B4-BE49-F238E27FC236}">
                <a16:creationId xmlns:a16="http://schemas.microsoft.com/office/drawing/2014/main" id="{9C516941-8B80-8E17-0852-0697CE7D9EDB}"/>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31F89DD3-4D24-1D68-7F98-A4451A2D43BD}"/>
              </a:ext>
            </a:extLst>
          </p:cNvPr>
          <p:cNvSpPr>
            <a:spLocks noGrp="1"/>
          </p:cNvSpPr>
          <p:nvPr>
            <p:ph type="sldNum" sz="quarter" idx="12"/>
          </p:nvPr>
        </p:nvSpPr>
        <p:spPr/>
        <p:txBody>
          <a:bodyPr/>
          <a:lstStyle/>
          <a:p>
            <a:fld id="{276FCC9A-351A-4C87-B6C7-A93065BCFE21}" type="slidenum">
              <a:rPr lang="it-IT" smtClean="0"/>
              <a:t>‹N›</a:t>
            </a:fld>
            <a:endParaRPr lang="it-IT"/>
          </a:p>
        </p:txBody>
      </p:sp>
    </p:spTree>
    <p:extLst>
      <p:ext uri="{BB962C8B-B14F-4D97-AF65-F5344CB8AC3E}">
        <p14:creationId xmlns:p14="http://schemas.microsoft.com/office/powerpoint/2010/main" val="34251929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DFB2099-36B1-C1DC-F25F-21993C2D1E85}"/>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4EDD5258-B12A-31BC-4637-3446A79D5E46}"/>
              </a:ext>
            </a:extLst>
          </p:cNvPr>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09A3B22A-DCB8-CC11-7950-9A912879B334}"/>
              </a:ext>
            </a:extLst>
          </p:cNvPr>
          <p:cNvSpPr>
            <a:spLocks noGrp="1"/>
          </p:cNvSpPr>
          <p:nvPr>
            <p:ph type="dt" sz="half" idx="10"/>
          </p:nvPr>
        </p:nvSpPr>
        <p:spPr/>
        <p:txBody>
          <a:bodyPr/>
          <a:lstStyle/>
          <a:p>
            <a:fld id="{34719BE0-092F-4F2A-B894-44C044C14DA7}" type="datetimeFigureOut">
              <a:rPr lang="it-IT" smtClean="0"/>
              <a:t>29/10/2025</a:t>
            </a:fld>
            <a:endParaRPr lang="it-IT"/>
          </a:p>
        </p:txBody>
      </p:sp>
      <p:sp>
        <p:nvSpPr>
          <p:cNvPr id="5" name="Segnaposto piè di pagina 4">
            <a:extLst>
              <a:ext uri="{FF2B5EF4-FFF2-40B4-BE49-F238E27FC236}">
                <a16:creationId xmlns:a16="http://schemas.microsoft.com/office/drawing/2014/main" id="{DB52B857-FF94-DB46-9440-8A7BE1737B68}"/>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69F97CC5-1484-6E4A-4352-92D4E50112E7}"/>
              </a:ext>
            </a:extLst>
          </p:cNvPr>
          <p:cNvSpPr>
            <a:spLocks noGrp="1"/>
          </p:cNvSpPr>
          <p:nvPr>
            <p:ph type="sldNum" sz="quarter" idx="12"/>
          </p:nvPr>
        </p:nvSpPr>
        <p:spPr/>
        <p:txBody>
          <a:bodyPr/>
          <a:lstStyle/>
          <a:p>
            <a:fld id="{276FCC9A-351A-4C87-B6C7-A93065BCFE21}" type="slidenum">
              <a:rPr lang="it-IT" smtClean="0"/>
              <a:t>‹N›</a:t>
            </a:fld>
            <a:endParaRPr lang="it-IT"/>
          </a:p>
        </p:txBody>
      </p:sp>
    </p:spTree>
    <p:extLst>
      <p:ext uri="{BB962C8B-B14F-4D97-AF65-F5344CB8AC3E}">
        <p14:creationId xmlns:p14="http://schemas.microsoft.com/office/powerpoint/2010/main" val="31161562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5725E47-B501-C91C-5F6A-AFB3EC3F4161}"/>
              </a:ext>
            </a:extLst>
          </p:cNvPr>
          <p:cNvSpPr>
            <a:spLocks noGrp="1"/>
          </p:cNvSpPr>
          <p:nvPr>
            <p:ph type="title"/>
          </p:nvPr>
        </p:nvSpPr>
        <p:spPr>
          <a:xfrm>
            <a:off x="831850" y="1709738"/>
            <a:ext cx="10515600" cy="2852737"/>
          </a:xfrm>
        </p:spPr>
        <p:txBody>
          <a:bodyPr anchor="b"/>
          <a:lstStyle>
            <a:lvl1pPr>
              <a:defRPr sz="6000"/>
            </a:lvl1pPr>
          </a:lstStyle>
          <a:p>
            <a:r>
              <a:rPr lang="it-IT"/>
              <a:t>Fare clic per modificare lo stile del titolo dello schema</a:t>
            </a:r>
          </a:p>
        </p:txBody>
      </p:sp>
      <p:sp>
        <p:nvSpPr>
          <p:cNvPr id="3" name="Segnaposto testo 2">
            <a:extLst>
              <a:ext uri="{FF2B5EF4-FFF2-40B4-BE49-F238E27FC236}">
                <a16:creationId xmlns:a16="http://schemas.microsoft.com/office/drawing/2014/main" id="{9451AD81-6853-BD66-F4DB-2AD332446A2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it-IT"/>
              <a:t>Fare clic per modificare gli stili del testo dello schema</a:t>
            </a:r>
          </a:p>
        </p:txBody>
      </p:sp>
      <p:sp>
        <p:nvSpPr>
          <p:cNvPr id="4" name="Segnaposto data 3">
            <a:extLst>
              <a:ext uri="{FF2B5EF4-FFF2-40B4-BE49-F238E27FC236}">
                <a16:creationId xmlns:a16="http://schemas.microsoft.com/office/drawing/2014/main" id="{60BB9AAF-DAF3-1E78-AE98-B815DF4225EA}"/>
              </a:ext>
            </a:extLst>
          </p:cNvPr>
          <p:cNvSpPr>
            <a:spLocks noGrp="1"/>
          </p:cNvSpPr>
          <p:nvPr>
            <p:ph type="dt" sz="half" idx="10"/>
          </p:nvPr>
        </p:nvSpPr>
        <p:spPr/>
        <p:txBody>
          <a:bodyPr/>
          <a:lstStyle/>
          <a:p>
            <a:fld id="{34719BE0-092F-4F2A-B894-44C044C14DA7}" type="datetimeFigureOut">
              <a:rPr lang="it-IT" smtClean="0"/>
              <a:t>29/10/2025</a:t>
            </a:fld>
            <a:endParaRPr lang="it-IT"/>
          </a:p>
        </p:txBody>
      </p:sp>
      <p:sp>
        <p:nvSpPr>
          <p:cNvPr id="5" name="Segnaposto piè di pagina 4">
            <a:extLst>
              <a:ext uri="{FF2B5EF4-FFF2-40B4-BE49-F238E27FC236}">
                <a16:creationId xmlns:a16="http://schemas.microsoft.com/office/drawing/2014/main" id="{EA55752E-7DDE-6ADF-ACD4-0FEE59C3CAE2}"/>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7395AC8D-8E46-072D-EA9E-E3261ED34643}"/>
              </a:ext>
            </a:extLst>
          </p:cNvPr>
          <p:cNvSpPr>
            <a:spLocks noGrp="1"/>
          </p:cNvSpPr>
          <p:nvPr>
            <p:ph type="sldNum" sz="quarter" idx="12"/>
          </p:nvPr>
        </p:nvSpPr>
        <p:spPr/>
        <p:txBody>
          <a:bodyPr/>
          <a:lstStyle/>
          <a:p>
            <a:fld id="{276FCC9A-351A-4C87-B6C7-A93065BCFE21}" type="slidenum">
              <a:rPr lang="it-IT" smtClean="0"/>
              <a:t>‹N›</a:t>
            </a:fld>
            <a:endParaRPr lang="it-IT"/>
          </a:p>
        </p:txBody>
      </p:sp>
    </p:spTree>
    <p:extLst>
      <p:ext uri="{BB962C8B-B14F-4D97-AF65-F5344CB8AC3E}">
        <p14:creationId xmlns:p14="http://schemas.microsoft.com/office/powerpoint/2010/main" val="15458140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87E643F-BDB2-D15A-44AF-47082DD19A03}"/>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4A881F24-6648-4881-F36B-BAE35278A8FD}"/>
              </a:ext>
            </a:extLst>
          </p:cNvPr>
          <p:cNvSpPr>
            <a:spLocks noGrp="1"/>
          </p:cNvSpPr>
          <p:nvPr>
            <p:ph sz="half" idx="1"/>
          </p:nvPr>
        </p:nvSpPr>
        <p:spPr>
          <a:xfrm>
            <a:off x="838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a:extLst>
              <a:ext uri="{FF2B5EF4-FFF2-40B4-BE49-F238E27FC236}">
                <a16:creationId xmlns:a16="http://schemas.microsoft.com/office/drawing/2014/main" id="{0BAF53B6-7CEF-C710-2936-24A0B34EBDE8}"/>
              </a:ext>
            </a:extLst>
          </p:cNvPr>
          <p:cNvSpPr>
            <a:spLocks noGrp="1"/>
          </p:cNvSpPr>
          <p:nvPr>
            <p:ph sz="half" idx="2"/>
          </p:nvPr>
        </p:nvSpPr>
        <p:spPr>
          <a:xfrm>
            <a:off x="6172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data 4">
            <a:extLst>
              <a:ext uri="{FF2B5EF4-FFF2-40B4-BE49-F238E27FC236}">
                <a16:creationId xmlns:a16="http://schemas.microsoft.com/office/drawing/2014/main" id="{2826FBCB-162A-013D-F45C-DC636AAEA422}"/>
              </a:ext>
            </a:extLst>
          </p:cNvPr>
          <p:cNvSpPr>
            <a:spLocks noGrp="1"/>
          </p:cNvSpPr>
          <p:nvPr>
            <p:ph type="dt" sz="half" idx="10"/>
          </p:nvPr>
        </p:nvSpPr>
        <p:spPr/>
        <p:txBody>
          <a:bodyPr/>
          <a:lstStyle/>
          <a:p>
            <a:fld id="{34719BE0-092F-4F2A-B894-44C044C14DA7}" type="datetimeFigureOut">
              <a:rPr lang="it-IT" smtClean="0"/>
              <a:t>29/10/2025</a:t>
            </a:fld>
            <a:endParaRPr lang="it-IT"/>
          </a:p>
        </p:txBody>
      </p:sp>
      <p:sp>
        <p:nvSpPr>
          <p:cNvPr id="6" name="Segnaposto piè di pagina 5">
            <a:extLst>
              <a:ext uri="{FF2B5EF4-FFF2-40B4-BE49-F238E27FC236}">
                <a16:creationId xmlns:a16="http://schemas.microsoft.com/office/drawing/2014/main" id="{BAE4F57E-9A88-19AA-3A42-B84C52046724}"/>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8E8C8DCE-8701-9FD8-DDFD-B4521E9B51B5}"/>
              </a:ext>
            </a:extLst>
          </p:cNvPr>
          <p:cNvSpPr>
            <a:spLocks noGrp="1"/>
          </p:cNvSpPr>
          <p:nvPr>
            <p:ph type="sldNum" sz="quarter" idx="12"/>
          </p:nvPr>
        </p:nvSpPr>
        <p:spPr/>
        <p:txBody>
          <a:bodyPr/>
          <a:lstStyle/>
          <a:p>
            <a:fld id="{276FCC9A-351A-4C87-B6C7-A93065BCFE21}" type="slidenum">
              <a:rPr lang="it-IT" smtClean="0"/>
              <a:t>‹N›</a:t>
            </a:fld>
            <a:endParaRPr lang="it-IT"/>
          </a:p>
        </p:txBody>
      </p:sp>
    </p:spTree>
    <p:extLst>
      <p:ext uri="{BB962C8B-B14F-4D97-AF65-F5344CB8AC3E}">
        <p14:creationId xmlns:p14="http://schemas.microsoft.com/office/powerpoint/2010/main" val="18043876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6F86573-2B85-C397-4F26-2B7A8CE54CCB}"/>
              </a:ext>
            </a:extLst>
          </p:cNvPr>
          <p:cNvSpPr>
            <a:spLocks noGrp="1"/>
          </p:cNvSpPr>
          <p:nvPr>
            <p:ph type="title"/>
          </p:nvPr>
        </p:nvSpPr>
        <p:spPr>
          <a:xfrm>
            <a:off x="839788" y="365125"/>
            <a:ext cx="10515600" cy="1325563"/>
          </a:xfrm>
        </p:spPr>
        <p:txBody>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27F54195-29C3-0A6E-E7B1-8D54C280C12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4" name="Segnaposto contenuto 3">
            <a:extLst>
              <a:ext uri="{FF2B5EF4-FFF2-40B4-BE49-F238E27FC236}">
                <a16:creationId xmlns:a16="http://schemas.microsoft.com/office/drawing/2014/main" id="{78F0018A-239D-CC0D-DA44-88079D0E72DF}"/>
              </a:ext>
            </a:extLst>
          </p:cNvPr>
          <p:cNvSpPr>
            <a:spLocks noGrp="1"/>
          </p:cNvSpPr>
          <p:nvPr>
            <p:ph sz="half" idx="2"/>
          </p:nvPr>
        </p:nvSpPr>
        <p:spPr>
          <a:xfrm>
            <a:off x="839788" y="2505075"/>
            <a:ext cx="5157787"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testo 4">
            <a:extLst>
              <a:ext uri="{FF2B5EF4-FFF2-40B4-BE49-F238E27FC236}">
                <a16:creationId xmlns:a16="http://schemas.microsoft.com/office/drawing/2014/main" id="{A496BFC6-2B35-4900-DC7E-D69848F3B3C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Segnaposto contenuto 5">
            <a:extLst>
              <a:ext uri="{FF2B5EF4-FFF2-40B4-BE49-F238E27FC236}">
                <a16:creationId xmlns:a16="http://schemas.microsoft.com/office/drawing/2014/main" id="{EE6D0EF2-8851-F3B3-9177-79369D5CD554}"/>
              </a:ext>
            </a:extLst>
          </p:cNvPr>
          <p:cNvSpPr>
            <a:spLocks noGrp="1"/>
          </p:cNvSpPr>
          <p:nvPr>
            <p:ph sz="quarter" idx="4"/>
          </p:nvPr>
        </p:nvSpPr>
        <p:spPr>
          <a:xfrm>
            <a:off x="6172200" y="2505075"/>
            <a:ext cx="5183188"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7" name="Segnaposto data 6">
            <a:extLst>
              <a:ext uri="{FF2B5EF4-FFF2-40B4-BE49-F238E27FC236}">
                <a16:creationId xmlns:a16="http://schemas.microsoft.com/office/drawing/2014/main" id="{70743C59-F10B-C750-03EC-A2B7FEADFC09}"/>
              </a:ext>
            </a:extLst>
          </p:cNvPr>
          <p:cNvSpPr>
            <a:spLocks noGrp="1"/>
          </p:cNvSpPr>
          <p:nvPr>
            <p:ph type="dt" sz="half" idx="10"/>
          </p:nvPr>
        </p:nvSpPr>
        <p:spPr/>
        <p:txBody>
          <a:bodyPr/>
          <a:lstStyle/>
          <a:p>
            <a:fld id="{34719BE0-092F-4F2A-B894-44C044C14DA7}" type="datetimeFigureOut">
              <a:rPr lang="it-IT" smtClean="0"/>
              <a:t>29/10/2025</a:t>
            </a:fld>
            <a:endParaRPr lang="it-IT"/>
          </a:p>
        </p:txBody>
      </p:sp>
      <p:sp>
        <p:nvSpPr>
          <p:cNvPr id="8" name="Segnaposto piè di pagina 7">
            <a:extLst>
              <a:ext uri="{FF2B5EF4-FFF2-40B4-BE49-F238E27FC236}">
                <a16:creationId xmlns:a16="http://schemas.microsoft.com/office/drawing/2014/main" id="{D806AC1C-7288-9FC1-EBB8-5F578C8E4513}"/>
              </a:ext>
            </a:extLst>
          </p:cNvPr>
          <p:cNvSpPr>
            <a:spLocks noGrp="1"/>
          </p:cNvSpPr>
          <p:nvPr>
            <p:ph type="ftr" sz="quarter" idx="11"/>
          </p:nvPr>
        </p:nvSpPr>
        <p:spPr/>
        <p:txBody>
          <a:bodyPr/>
          <a:lstStyle/>
          <a:p>
            <a:endParaRPr lang="it-IT"/>
          </a:p>
        </p:txBody>
      </p:sp>
      <p:sp>
        <p:nvSpPr>
          <p:cNvPr id="9" name="Segnaposto numero diapositiva 8">
            <a:extLst>
              <a:ext uri="{FF2B5EF4-FFF2-40B4-BE49-F238E27FC236}">
                <a16:creationId xmlns:a16="http://schemas.microsoft.com/office/drawing/2014/main" id="{411FA266-B0F9-3E96-1FA1-174C73ACC963}"/>
              </a:ext>
            </a:extLst>
          </p:cNvPr>
          <p:cNvSpPr>
            <a:spLocks noGrp="1"/>
          </p:cNvSpPr>
          <p:nvPr>
            <p:ph type="sldNum" sz="quarter" idx="12"/>
          </p:nvPr>
        </p:nvSpPr>
        <p:spPr/>
        <p:txBody>
          <a:bodyPr/>
          <a:lstStyle/>
          <a:p>
            <a:fld id="{276FCC9A-351A-4C87-B6C7-A93065BCFE21}" type="slidenum">
              <a:rPr lang="it-IT" smtClean="0"/>
              <a:t>‹N›</a:t>
            </a:fld>
            <a:endParaRPr lang="it-IT"/>
          </a:p>
        </p:txBody>
      </p:sp>
    </p:spTree>
    <p:extLst>
      <p:ext uri="{BB962C8B-B14F-4D97-AF65-F5344CB8AC3E}">
        <p14:creationId xmlns:p14="http://schemas.microsoft.com/office/powerpoint/2010/main" val="18187949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ECE0E04-8310-4B43-269A-399CF18D9CCE}"/>
              </a:ext>
            </a:extLst>
          </p:cNvPr>
          <p:cNvSpPr>
            <a:spLocks noGrp="1"/>
          </p:cNvSpPr>
          <p:nvPr>
            <p:ph type="title"/>
          </p:nvPr>
        </p:nvSpPr>
        <p:spPr/>
        <p:txBody>
          <a:bodyPr/>
          <a:lstStyle/>
          <a:p>
            <a:r>
              <a:rPr lang="it-IT"/>
              <a:t>Fare clic per modificare lo stile del titolo dello schema</a:t>
            </a:r>
          </a:p>
        </p:txBody>
      </p:sp>
      <p:sp>
        <p:nvSpPr>
          <p:cNvPr id="3" name="Segnaposto data 2">
            <a:extLst>
              <a:ext uri="{FF2B5EF4-FFF2-40B4-BE49-F238E27FC236}">
                <a16:creationId xmlns:a16="http://schemas.microsoft.com/office/drawing/2014/main" id="{00FE1F23-D057-3CD0-0017-EA22A54C78F5}"/>
              </a:ext>
            </a:extLst>
          </p:cNvPr>
          <p:cNvSpPr>
            <a:spLocks noGrp="1"/>
          </p:cNvSpPr>
          <p:nvPr>
            <p:ph type="dt" sz="half" idx="10"/>
          </p:nvPr>
        </p:nvSpPr>
        <p:spPr/>
        <p:txBody>
          <a:bodyPr/>
          <a:lstStyle/>
          <a:p>
            <a:fld id="{34719BE0-092F-4F2A-B894-44C044C14DA7}" type="datetimeFigureOut">
              <a:rPr lang="it-IT" smtClean="0"/>
              <a:t>29/10/2025</a:t>
            </a:fld>
            <a:endParaRPr lang="it-IT"/>
          </a:p>
        </p:txBody>
      </p:sp>
      <p:sp>
        <p:nvSpPr>
          <p:cNvPr id="4" name="Segnaposto piè di pagina 3">
            <a:extLst>
              <a:ext uri="{FF2B5EF4-FFF2-40B4-BE49-F238E27FC236}">
                <a16:creationId xmlns:a16="http://schemas.microsoft.com/office/drawing/2014/main" id="{323D15DD-351F-FBDB-7B5A-A106AB57E21A}"/>
              </a:ext>
            </a:extLst>
          </p:cNvPr>
          <p:cNvSpPr>
            <a:spLocks noGrp="1"/>
          </p:cNvSpPr>
          <p:nvPr>
            <p:ph type="ftr" sz="quarter" idx="11"/>
          </p:nvPr>
        </p:nvSpPr>
        <p:spPr/>
        <p:txBody>
          <a:bodyPr/>
          <a:lstStyle/>
          <a:p>
            <a:endParaRPr lang="it-IT"/>
          </a:p>
        </p:txBody>
      </p:sp>
      <p:sp>
        <p:nvSpPr>
          <p:cNvPr id="5" name="Segnaposto numero diapositiva 4">
            <a:extLst>
              <a:ext uri="{FF2B5EF4-FFF2-40B4-BE49-F238E27FC236}">
                <a16:creationId xmlns:a16="http://schemas.microsoft.com/office/drawing/2014/main" id="{A2A6003F-257A-DB02-63A4-E0647F24074F}"/>
              </a:ext>
            </a:extLst>
          </p:cNvPr>
          <p:cNvSpPr>
            <a:spLocks noGrp="1"/>
          </p:cNvSpPr>
          <p:nvPr>
            <p:ph type="sldNum" sz="quarter" idx="12"/>
          </p:nvPr>
        </p:nvSpPr>
        <p:spPr/>
        <p:txBody>
          <a:bodyPr/>
          <a:lstStyle/>
          <a:p>
            <a:fld id="{276FCC9A-351A-4C87-B6C7-A93065BCFE21}" type="slidenum">
              <a:rPr lang="it-IT" smtClean="0"/>
              <a:t>‹N›</a:t>
            </a:fld>
            <a:endParaRPr lang="it-IT"/>
          </a:p>
        </p:txBody>
      </p:sp>
    </p:spTree>
    <p:extLst>
      <p:ext uri="{BB962C8B-B14F-4D97-AF65-F5344CB8AC3E}">
        <p14:creationId xmlns:p14="http://schemas.microsoft.com/office/powerpoint/2010/main" val="2351187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a:extLst>
              <a:ext uri="{FF2B5EF4-FFF2-40B4-BE49-F238E27FC236}">
                <a16:creationId xmlns:a16="http://schemas.microsoft.com/office/drawing/2014/main" id="{CCCD6976-14BF-AD65-3239-1489B5A7D0FA}"/>
              </a:ext>
            </a:extLst>
          </p:cNvPr>
          <p:cNvSpPr>
            <a:spLocks noGrp="1"/>
          </p:cNvSpPr>
          <p:nvPr>
            <p:ph type="dt" sz="half" idx="10"/>
          </p:nvPr>
        </p:nvSpPr>
        <p:spPr/>
        <p:txBody>
          <a:bodyPr/>
          <a:lstStyle/>
          <a:p>
            <a:fld id="{34719BE0-092F-4F2A-B894-44C044C14DA7}" type="datetimeFigureOut">
              <a:rPr lang="it-IT" smtClean="0"/>
              <a:t>29/10/2025</a:t>
            </a:fld>
            <a:endParaRPr lang="it-IT"/>
          </a:p>
        </p:txBody>
      </p:sp>
      <p:sp>
        <p:nvSpPr>
          <p:cNvPr id="3" name="Segnaposto piè di pagina 2">
            <a:extLst>
              <a:ext uri="{FF2B5EF4-FFF2-40B4-BE49-F238E27FC236}">
                <a16:creationId xmlns:a16="http://schemas.microsoft.com/office/drawing/2014/main" id="{F7F3C09C-33CE-35E2-DAF7-B97BEF79BABD}"/>
              </a:ext>
            </a:extLst>
          </p:cNvPr>
          <p:cNvSpPr>
            <a:spLocks noGrp="1"/>
          </p:cNvSpPr>
          <p:nvPr>
            <p:ph type="ftr" sz="quarter" idx="11"/>
          </p:nvPr>
        </p:nvSpPr>
        <p:spPr/>
        <p:txBody>
          <a:bodyPr/>
          <a:lstStyle/>
          <a:p>
            <a:endParaRPr lang="it-IT"/>
          </a:p>
        </p:txBody>
      </p:sp>
      <p:sp>
        <p:nvSpPr>
          <p:cNvPr id="4" name="Segnaposto numero diapositiva 3">
            <a:extLst>
              <a:ext uri="{FF2B5EF4-FFF2-40B4-BE49-F238E27FC236}">
                <a16:creationId xmlns:a16="http://schemas.microsoft.com/office/drawing/2014/main" id="{86D47E8B-C5B9-2B6B-21B2-F4FC3447C062}"/>
              </a:ext>
            </a:extLst>
          </p:cNvPr>
          <p:cNvSpPr>
            <a:spLocks noGrp="1"/>
          </p:cNvSpPr>
          <p:nvPr>
            <p:ph type="sldNum" sz="quarter" idx="12"/>
          </p:nvPr>
        </p:nvSpPr>
        <p:spPr/>
        <p:txBody>
          <a:bodyPr/>
          <a:lstStyle/>
          <a:p>
            <a:fld id="{276FCC9A-351A-4C87-B6C7-A93065BCFE21}" type="slidenum">
              <a:rPr lang="it-IT" smtClean="0"/>
              <a:t>‹N›</a:t>
            </a:fld>
            <a:endParaRPr lang="it-IT"/>
          </a:p>
        </p:txBody>
      </p:sp>
    </p:spTree>
    <p:extLst>
      <p:ext uri="{BB962C8B-B14F-4D97-AF65-F5344CB8AC3E}">
        <p14:creationId xmlns:p14="http://schemas.microsoft.com/office/powerpoint/2010/main" val="36504951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34745399-E1CE-EA8C-02C1-717C6ADC96DD}"/>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6C4BD85B-D1BB-0DA6-3E5C-5777B343EB0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testo 3">
            <a:extLst>
              <a:ext uri="{FF2B5EF4-FFF2-40B4-BE49-F238E27FC236}">
                <a16:creationId xmlns:a16="http://schemas.microsoft.com/office/drawing/2014/main" id="{0A0D2DA3-210B-6996-5309-6F6AD435DCF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CD3F6977-6C21-E28B-84D5-BB59BD8CEFC2}"/>
              </a:ext>
            </a:extLst>
          </p:cNvPr>
          <p:cNvSpPr>
            <a:spLocks noGrp="1"/>
          </p:cNvSpPr>
          <p:nvPr>
            <p:ph type="dt" sz="half" idx="10"/>
          </p:nvPr>
        </p:nvSpPr>
        <p:spPr/>
        <p:txBody>
          <a:bodyPr/>
          <a:lstStyle/>
          <a:p>
            <a:fld id="{34719BE0-092F-4F2A-B894-44C044C14DA7}" type="datetimeFigureOut">
              <a:rPr lang="it-IT" smtClean="0"/>
              <a:t>29/10/2025</a:t>
            </a:fld>
            <a:endParaRPr lang="it-IT"/>
          </a:p>
        </p:txBody>
      </p:sp>
      <p:sp>
        <p:nvSpPr>
          <p:cNvPr id="6" name="Segnaposto piè di pagina 5">
            <a:extLst>
              <a:ext uri="{FF2B5EF4-FFF2-40B4-BE49-F238E27FC236}">
                <a16:creationId xmlns:a16="http://schemas.microsoft.com/office/drawing/2014/main" id="{6E1C4B10-0707-E92A-E97B-3964DC0F3B0E}"/>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9EA085E5-BE90-DAF4-3332-9F384A82F155}"/>
              </a:ext>
            </a:extLst>
          </p:cNvPr>
          <p:cNvSpPr>
            <a:spLocks noGrp="1"/>
          </p:cNvSpPr>
          <p:nvPr>
            <p:ph type="sldNum" sz="quarter" idx="12"/>
          </p:nvPr>
        </p:nvSpPr>
        <p:spPr/>
        <p:txBody>
          <a:bodyPr/>
          <a:lstStyle/>
          <a:p>
            <a:fld id="{276FCC9A-351A-4C87-B6C7-A93065BCFE21}" type="slidenum">
              <a:rPr lang="it-IT" smtClean="0"/>
              <a:t>‹N›</a:t>
            </a:fld>
            <a:endParaRPr lang="it-IT"/>
          </a:p>
        </p:txBody>
      </p:sp>
    </p:spTree>
    <p:extLst>
      <p:ext uri="{BB962C8B-B14F-4D97-AF65-F5344CB8AC3E}">
        <p14:creationId xmlns:p14="http://schemas.microsoft.com/office/powerpoint/2010/main" val="21875755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45D6475-FBB2-9DE8-C9E3-67517A3FF318}"/>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immagine 2">
            <a:extLst>
              <a:ext uri="{FF2B5EF4-FFF2-40B4-BE49-F238E27FC236}">
                <a16:creationId xmlns:a16="http://schemas.microsoft.com/office/drawing/2014/main" id="{2883965C-5E61-D408-3784-EDE832217D9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4" name="Segnaposto testo 3">
            <a:extLst>
              <a:ext uri="{FF2B5EF4-FFF2-40B4-BE49-F238E27FC236}">
                <a16:creationId xmlns:a16="http://schemas.microsoft.com/office/drawing/2014/main" id="{672BE007-00D8-562F-EB71-AF9DCEFFD2D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CC5F0096-08F0-12B3-1597-CDEA62D28DE1}"/>
              </a:ext>
            </a:extLst>
          </p:cNvPr>
          <p:cNvSpPr>
            <a:spLocks noGrp="1"/>
          </p:cNvSpPr>
          <p:nvPr>
            <p:ph type="dt" sz="half" idx="10"/>
          </p:nvPr>
        </p:nvSpPr>
        <p:spPr/>
        <p:txBody>
          <a:bodyPr/>
          <a:lstStyle/>
          <a:p>
            <a:fld id="{34719BE0-092F-4F2A-B894-44C044C14DA7}" type="datetimeFigureOut">
              <a:rPr lang="it-IT" smtClean="0"/>
              <a:t>29/10/2025</a:t>
            </a:fld>
            <a:endParaRPr lang="it-IT"/>
          </a:p>
        </p:txBody>
      </p:sp>
      <p:sp>
        <p:nvSpPr>
          <p:cNvPr id="6" name="Segnaposto piè di pagina 5">
            <a:extLst>
              <a:ext uri="{FF2B5EF4-FFF2-40B4-BE49-F238E27FC236}">
                <a16:creationId xmlns:a16="http://schemas.microsoft.com/office/drawing/2014/main" id="{D74870CE-DD09-C48A-E205-6E67C58BAEEB}"/>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B2CEA4FB-3A66-8EA3-EA50-CD506E1B704B}"/>
              </a:ext>
            </a:extLst>
          </p:cNvPr>
          <p:cNvSpPr>
            <a:spLocks noGrp="1"/>
          </p:cNvSpPr>
          <p:nvPr>
            <p:ph type="sldNum" sz="quarter" idx="12"/>
          </p:nvPr>
        </p:nvSpPr>
        <p:spPr/>
        <p:txBody>
          <a:bodyPr/>
          <a:lstStyle/>
          <a:p>
            <a:fld id="{276FCC9A-351A-4C87-B6C7-A93065BCFE21}" type="slidenum">
              <a:rPr lang="it-IT" smtClean="0"/>
              <a:t>‹N›</a:t>
            </a:fld>
            <a:endParaRPr lang="it-IT"/>
          </a:p>
        </p:txBody>
      </p:sp>
    </p:spTree>
    <p:extLst>
      <p:ext uri="{BB962C8B-B14F-4D97-AF65-F5344CB8AC3E}">
        <p14:creationId xmlns:p14="http://schemas.microsoft.com/office/powerpoint/2010/main" val="42485868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306E01A-E002-E736-C04F-C9B162CBAC35}"/>
              </a:ext>
            </a:extLst>
          </p:cNvPr>
          <p:cNvSpPr>
            <a:spLocks noGrp="1"/>
          </p:cNvSpPr>
          <p:nvPr>
            <p:ph type="title"/>
          </p:nvPr>
        </p:nvSpPr>
        <p:spPr/>
        <p:txBody>
          <a:bodyPr/>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C97E9A60-2DEA-EA27-A8A1-6C4AD5150178}"/>
              </a:ext>
            </a:extLst>
          </p:cNvPr>
          <p:cNvSpPr>
            <a:spLocks noGrp="1"/>
          </p:cNvSpPr>
          <p:nvPr>
            <p:ph type="body" orient="vert" idx="1"/>
          </p:nvPr>
        </p:nvSpPr>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44655FD1-90D7-A332-CA21-E4DA5D99B725}"/>
              </a:ext>
            </a:extLst>
          </p:cNvPr>
          <p:cNvSpPr>
            <a:spLocks noGrp="1"/>
          </p:cNvSpPr>
          <p:nvPr>
            <p:ph type="dt" sz="half" idx="10"/>
          </p:nvPr>
        </p:nvSpPr>
        <p:spPr/>
        <p:txBody>
          <a:bodyPr/>
          <a:lstStyle/>
          <a:p>
            <a:fld id="{34719BE0-092F-4F2A-B894-44C044C14DA7}" type="datetimeFigureOut">
              <a:rPr lang="it-IT" smtClean="0"/>
              <a:t>29/10/2025</a:t>
            </a:fld>
            <a:endParaRPr lang="it-IT"/>
          </a:p>
        </p:txBody>
      </p:sp>
      <p:sp>
        <p:nvSpPr>
          <p:cNvPr id="5" name="Segnaposto piè di pagina 4">
            <a:extLst>
              <a:ext uri="{FF2B5EF4-FFF2-40B4-BE49-F238E27FC236}">
                <a16:creationId xmlns:a16="http://schemas.microsoft.com/office/drawing/2014/main" id="{3895C723-32A7-1DBC-EA3E-EC70445048F2}"/>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F926B6E2-C3BB-C188-8DE0-A00D424EDBE1}"/>
              </a:ext>
            </a:extLst>
          </p:cNvPr>
          <p:cNvSpPr>
            <a:spLocks noGrp="1"/>
          </p:cNvSpPr>
          <p:nvPr>
            <p:ph type="sldNum" sz="quarter" idx="12"/>
          </p:nvPr>
        </p:nvSpPr>
        <p:spPr/>
        <p:txBody>
          <a:bodyPr/>
          <a:lstStyle/>
          <a:p>
            <a:fld id="{276FCC9A-351A-4C87-B6C7-A93065BCFE21}" type="slidenum">
              <a:rPr lang="it-IT" smtClean="0"/>
              <a:t>‹N›</a:t>
            </a:fld>
            <a:endParaRPr lang="it-IT"/>
          </a:p>
        </p:txBody>
      </p:sp>
    </p:spTree>
    <p:extLst>
      <p:ext uri="{BB962C8B-B14F-4D97-AF65-F5344CB8AC3E}">
        <p14:creationId xmlns:p14="http://schemas.microsoft.com/office/powerpoint/2010/main" val="22074131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a:extLst>
              <a:ext uri="{FF2B5EF4-FFF2-40B4-BE49-F238E27FC236}">
                <a16:creationId xmlns:a16="http://schemas.microsoft.com/office/drawing/2014/main" id="{78EB00CC-090B-DF5E-2A8A-247C86D3D937}"/>
              </a:ext>
            </a:extLst>
          </p:cNvPr>
          <p:cNvSpPr>
            <a:spLocks noGrp="1"/>
          </p:cNvSpPr>
          <p:nvPr>
            <p:ph type="title" orient="vert"/>
          </p:nvPr>
        </p:nvSpPr>
        <p:spPr>
          <a:xfrm>
            <a:off x="8724900" y="365125"/>
            <a:ext cx="2628900" cy="5811838"/>
          </a:xfrm>
        </p:spPr>
        <p:txBody>
          <a:bodyPr vert="eaVert"/>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B4EC7974-6413-E0B0-24B4-18E353551106}"/>
              </a:ext>
            </a:extLst>
          </p:cNvPr>
          <p:cNvSpPr>
            <a:spLocks noGrp="1"/>
          </p:cNvSpPr>
          <p:nvPr>
            <p:ph type="body" orient="vert" idx="1"/>
          </p:nvPr>
        </p:nvSpPr>
        <p:spPr>
          <a:xfrm>
            <a:off x="838200" y="365125"/>
            <a:ext cx="7734300" cy="5811838"/>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AE95D497-9667-5B3A-1DEC-BD5D250C7660}"/>
              </a:ext>
            </a:extLst>
          </p:cNvPr>
          <p:cNvSpPr>
            <a:spLocks noGrp="1"/>
          </p:cNvSpPr>
          <p:nvPr>
            <p:ph type="dt" sz="half" idx="10"/>
          </p:nvPr>
        </p:nvSpPr>
        <p:spPr/>
        <p:txBody>
          <a:bodyPr/>
          <a:lstStyle/>
          <a:p>
            <a:fld id="{34719BE0-092F-4F2A-B894-44C044C14DA7}" type="datetimeFigureOut">
              <a:rPr lang="it-IT" smtClean="0"/>
              <a:t>29/10/2025</a:t>
            </a:fld>
            <a:endParaRPr lang="it-IT"/>
          </a:p>
        </p:txBody>
      </p:sp>
      <p:sp>
        <p:nvSpPr>
          <p:cNvPr id="5" name="Segnaposto piè di pagina 4">
            <a:extLst>
              <a:ext uri="{FF2B5EF4-FFF2-40B4-BE49-F238E27FC236}">
                <a16:creationId xmlns:a16="http://schemas.microsoft.com/office/drawing/2014/main" id="{1BDAF3DC-7FF9-6892-0FDC-8CF04CA12EF3}"/>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1E620739-6BB9-1CF6-DA62-EC64AE32D174}"/>
              </a:ext>
            </a:extLst>
          </p:cNvPr>
          <p:cNvSpPr>
            <a:spLocks noGrp="1"/>
          </p:cNvSpPr>
          <p:nvPr>
            <p:ph type="sldNum" sz="quarter" idx="12"/>
          </p:nvPr>
        </p:nvSpPr>
        <p:spPr/>
        <p:txBody>
          <a:bodyPr/>
          <a:lstStyle/>
          <a:p>
            <a:fld id="{276FCC9A-351A-4C87-B6C7-A93065BCFE21}" type="slidenum">
              <a:rPr lang="it-IT" smtClean="0"/>
              <a:t>‹N›</a:t>
            </a:fld>
            <a:endParaRPr lang="it-IT"/>
          </a:p>
        </p:txBody>
      </p:sp>
    </p:spTree>
    <p:extLst>
      <p:ext uri="{BB962C8B-B14F-4D97-AF65-F5344CB8AC3E}">
        <p14:creationId xmlns:p14="http://schemas.microsoft.com/office/powerpoint/2010/main" val="24451420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a:extLst>
              <a:ext uri="{FF2B5EF4-FFF2-40B4-BE49-F238E27FC236}">
                <a16:creationId xmlns:a16="http://schemas.microsoft.com/office/drawing/2014/main" id="{A78DEE1A-590B-ED2F-466E-3115C689BFF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378DF134-C037-B165-9771-EF83E676BC5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8BAD054C-4743-21D9-DC38-A59D2F04A46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4719BE0-092F-4F2A-B894-44C044C14DA7}" type="datetimeFigureOut">
              <a:rPr lang="it-IT" smtClean="0"/>
              <a:t>29/10/2025</a:t>
            </a:fld>
            <a:endParaRPr lang="it-IT"/>
          </a:p>
        </p:txBody>
      </p:sp>
      <p:sp>
        <p:nvSpPr>
          <p:cNvPr id="5" name="Segnaposto piè di pagina 4">
            <a:extLst>
              <a:ext uri="{FF2B5EF4-FFF2-40B4-BE49-F238E27FC236}">
                <a16:creationId xmlns:a16="http://schemas.microsoft.com/office/drawing/2014/main" id="{0D25E94F-3E21-6A89-5AEC-FFB1E2B94E4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it-IT"/>
          </a:p>
        </p:txBody>
      </p:sp>
      <p:sp>
        <p:nvSpPr>
          <p:cNvPr id="6" name="Segnaposto numero diapositiva 5">
            <a:extLst>
              <a:ext uri="{FF2B5EF4-FFF2-40B4-BE49-F238E27FC236}">
                <a16:creationId xmlns:a16="http://schemas.microsoft.com/office/drawing/2014/main" id="{8EAA5F8A-58B1-6197-B04F-2FB6CC454FB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76FCC9A-351A-4C87-B6C7-A93065BCFE21}" type="slidenum">
              <a:rPr lang="it-IT" smtClean="0"/>
              <a:t>‹N›</a:t>
            </a:fld>
            <a:endParaRPr lang="it-IT"/>
          </a:p>
        </p:txBody>
      </p:sp>
    </p:spTree>
    <p:extLst>
      <p:ext uri="{BB962C8B-B14F-4D97-AF65-F5344CB8AC3E}">
        <p14:creationId xmlns:p14="http://schemas.microsoft.com/office/powerpoint/2010/main" val="14154763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2" Type="http://schemas.openxmlformats.org/officeDocument/2006/relationships/hyperlink" Target="https://www.mdpi.com/2079-9292/10/9/999"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proceedings.mlr.press/v202/eimer23a"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8A94871E-96FC-4ADE-815B-41A636E34F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1B188084-229D-0DA2-6724-91E3E2C55663}"/>
              </a:ext>
            </a:extLst>
          </p:cNvPr>
          <p:cNvSpPr>
            <a:spLocks noGrp="1"/>
          </p:cNvSpPr>
          <p:nvPr>
            <p:ph type="ctrTitle"/>
          </p:nvPr>
        </p:nvSpPr>
        <p:spPr>
          <a:xfrm>
            <a:off x="640080" y="320040"/>
            <a:ext cx="6692827" cy="3892669"/>
          </a:xfrm>
        </p:spPr>
        <p:txBody>
          <a:bodyPr>
            <a:normAutofit/>
          </a:bodyPr>
          <a:lstStyle/>
          <a:p>
            <a:pPr algn="l"/>
            <a:r>
              <a:rPr lang="en-US" sz="5600"/>
              <a:t>DRone trAjectory and CONtrol optlmisAtioN for noise emissions reduction</a:t>
            </a:r>
          </a:p>
        </p:txBody>
      </p:sp>
      <p:sp>
        <p:nvSpPr>
          <p:cNvPr id="3" name="Sottotitolo 2">
            <a:extLst>
              <a:ext uri="{FF2B5EF4-FFF2-40B4-BE49-F238E27FC236}">
                <a16:creationId xmlns:a16="http://schemas.microsoft.com/office/drawing/2014/main" id="{E0471D99-1787-B1EA-96B1-1CA62ED7A157}"/>
              </a:ext>
            </a:extLst>
          </p:cNvPr>
          <p:cNvSpPr>
            <a:spLocks noGrp="1"/>
          </p:cNvSpPr>
          <p:nvPr>
            <p:ph type="subTitle" idx="1"/>
          </p:nvPr>
        </p:nvSpPr>
        <p:spPr>
          <a:xfrm>
            <a:off x="640080" y="4631161"/>
            <a:ext cx="6692827" cy="1569486"/>
          </a:xfrm>
        </p:spPr>
        <p:txBody>
          <a:bodyPr>
            <a:normAutofit/>
          </a:bodyPr>
          <a:lstStyle/>
          <a:p>
            <a:pPr algn="l"/>
            <a:r>
              <a:rPr lang="it-IT" dirty="0" err="1"/>
              <a:t>Findings</a:t>
            </a:r>
            <a:r>
              <a:rPr lang="it-IT" dirty="0"/>
              <a:t> Journal, Andrea Vaiuso</a:t>
            </a:r>
            <a:endParaRPr lang="it-IT"/>
          </a:p>
        </p:txBody>
      </p:sp>
      <p:sp>
        <p:nvSpPr>
          <p:cNvPr id="1033"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4562" y="4409267"/>
            <a:ext cx="4243589" cy="18288"/>
          </a:xfrm>
          <a:custGeom>
            <a:avLst/>
            <a:gdLst>
              <a:gd name="connsiteX0" fmla="*/ 0 w 4243589"/>
              <a:gd name="connsiteY0" fmla="*/ 0 h 18288"/>
              <a:gd name="connsiteX1" fmla="*/ 563791 w 4243589"/>
              <a:gd name="connsiteY1" fmla="*/ 0 h 18288"/>
              <a:gd name="connsiteX2" fmla="*/ 1042710 w 4243589"/>
              <a:gd name="connsiteY2" fmla="*/ 0 h 18288"/>
              <a:gd name="connsiteX3" fmla="*/ 1564066 w 4243589"/>
              <a:gd name="connsiteY3" fmla="*/ 0 h 18288"/>
              <a:gd name="connsiteX4" fmla="*/ 2212729 w 4243589"/>
              <a:gd name="connsiteY4" fmla="*/ 0 h 18288"/>
              <a:gd name="connsiteX5" fmla="*/ 2776520 w 4243589"/>
              <a:gd name="connsiteY5" fmla="*/ 0 h 18288"/>
              <a:gd name="connsiteX6" fmla="*/ 3297875 w 4243589"/>
              <a:gd name="connsiteY6" fmla="*/ 0 h 18288"/>
              <a:gd name="connsiteX7" fmla="*/ 4243589 w 4243589"/>
              <a:gd name="connsiteY7" fmla="*/ 0 h 18288"/>
              <a:gd name="connsiteX8" fmla="*/ 4243589 w 4243589"/>
              <a:gd name="connsiteY8" fmla="*/ 18288 h 18288"/>
              <a:gd name="connsiteX9" fmla="*/ 3637362 w 4243589"/>
              <a:gd name="connsiteY9" fmla="*/ 18288 h 18288"/>
              <a:gd name="connsiteX10" fmla="*/ 3116007 w 4243589"/>
              <a:gd name="connsiteY10" fmla="*/ 18288 h 18288"/>
              <a:gd name="connsiteX11" fmla="*/ 2424908 w 4243589"/>
              <a:gd name="connsiteY11" fmla="*/ 18288 h 18288"/>
              <a:gd name="connsiteX12" fmla="*/ 1861117 w 4243589"/>
              <a:gd name="connsiteY12" fmla="*/ 18288 h 18288"/>
              <a:gd name="connsiteX13" fmla="*/ 1382198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3987" y="7429"/>
                  <a:pt x="4243569" y="10822"/>
                  <a:pt x="4243589" y="18288"/>
                </a:cubicBezTo>
                <a:cubicBezTo>
                  <a:pt x="4112949" y="-2855"/>
                  <a:pt x="3928037" y="1831"/>
                  <a:pt x="3637362" y="18288"/>
                </a:cubicBezTo>
                <a:cubicBezTo>
                  <a:pt x="3346687" y="34745"/>
                  <a:pt x="3254446" y="26669"/>
                  <a:pt x="3116007" y="18288"/>
                </a:cubicBezTo>
                <a:cubicBezTo>
                  <a:pt x="2977569" y="9907"/>
                  <a:pt x="2620228" y="28873"/>
                  <a:pt x="2424908" y="18288"/>
                </a:cubicBezTo>
                <a:cubicBezTo>
                  <a:pt x="2229588" y="7703"/>
                  <a:pt x="2088287" y="-3854"/>
                  <a:pt x="1861117" y="18288"/>
                </a:cubicBezTo>
                <a:cubicBezTo>
                  <a:pt x="1633947" y="40430"/>
                  <a:pt x="1502447" y="-871"/>
                  <a:pt x="1382198" y="18288"/>
                </a:cubicBezTo>
                <a:cubicBezTo>
                  <a:pt x="1261949" y="37447"/>
                  <a:pt x="1045440" y="28353"/>
                  <a:pt x="733535" y="18288"/>
                </a:cubicBezTo>
                <a:cubicBezTo>
                  <a:pt x="421630" y="8223"/>
                  <a:pt x="341257" y="-18359"/>
                  <a:pt x="0" y="18288"/>
                </a:cubicBezTo>
                <a:cubicBezTo>
                  <a:pt x="-591" y="13205"/>
                  <a:pt x="-663" y="6329"/>
                  <a:pt x="0" y="0"/>
                </a:cubicBezTo>
                <a:close/>
              </a:path>
              <a:path w="4243589" h="18288"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2703" y="5429"/>
                  <a:pt x="4244410" y="14046"/>
                  <a:pt x="4243589" y="18288"/>
                </a:cubicBezTo>
                <a:cubicBezTo>
                  <a:pt x="4130424" y="-1240"/>
                  <a:pt x="3932803" y="42249"/>
                  <a:pt x="3722234" y="18288"/>
                </a:cubicBezTo>
                <a:cubicBezTo>
                  <a:pt x="3511665" y="-5673"/>
                  <a:pt x="3269903" y="45994"/>
                  <a:pt x="3116007" y="18288"/>
                </a:cubicBezTo>
                <a:cubicBezTo>
                  <a:pt x="2962111" y="-9418"/>
                  <a:pt x="2744280" y="23224"/>
                  <a:pt x="2509780" y="18288"/>
                </a:cubicBezTo>
                <a:cubicBezTo>
                  <a:pt x="2275280" y="13352"/>
                  <a:pt x="2066059" y="43664"/>
                  <a:pt x="1945989" y="18288"/>
                </a:cubicBezTo>
                <a:cubicBezTo>
                  <a:pt x="1825919" y="-7088"/>
                  <a:pt x="1407329" y="12616"/>
                  <a:pt x="1254890" y="18288"/>
                </a:cubicBezTo>
                <a:cubicBezTo>
                  <a:pt x="1102451" y="23960"/>
                  <a:pt x="837950" y="31673"/>
                  <a:pt x="563791" y="18288"/>
                </a:cubicBezTo>
                <a:cubicBezTo>
                  <a:pt x="289632" y="4903"/>
                  <a:pt x="132768" y="7105"/>
                  <a:pt x="0" y="18288"/>
                </a:cubicBezTo>
                <a:cubicBezTo>
                  <a:pt x="668" y="13665"/>
                  <a:pt x="578" y="5675"/>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ZHAW Zurich University of Applied Sciences | Green Policy Platform">
            <a:extLst>
              <a:ext uri="{FF2B5EF4-FFF2-40B4-BE49-F238E27FC236}">
                <a16:creationId xmlns:a16="http://schemas.microsoft.com/office/drawing/2014/main" id="{9E2460FC-6DE9-6124-CBE7-A3277D6C0B7E}"/>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9975986" y="1231320"/>
            <a:ext cx="1207125" cy="16597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486065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0511B45-1AF4-E972-5D78-4700EE864629}"/>
              </a:ext>
            </a:extLst>
          </p:cNvPr>
          <p:cNvSpPr>
            <a:spLocks noGrp="1"/>
          </p:cNvSpPr>
          <p:nvPr>
            <p:ph type="title"/>
          </p:nvPr>
        </p:nvSpPr>
        <p:spPr/>
        <p:txBody>
          <a:bodyPr/>
          <a:lstStyle/>
          <a:p>
            <a:r>
              <a:rPr lang="it-IT" dirty="0"/>
              <a:t>08.2025</a:t>
            </a:r>
          </a:p>
        </p:txBody>
      </p:sp>
      <p:sp>
        <p:nvSpPr>
          <p:cNvPr id="3" name="Segnaposto contenuto 2">
            <a:extLst>
              <a:ext uri="{FF2B5EF4-FFF2-40B4-BE49-F238E27FC236}">
                <a16:creationId xmlns:a16="http://schemas.microsoft.com/office/drawing/2014/main" id="{FC71F4DC-5C59-E872-9444-BF5D8C4283FF}"/>
              </a:ext>
            </a:extLst>
          </p:cNvPr>
          <p:cNvSpPr>
            <a:spLocks noGrp="1"/>
          </p:cNvSpPr>
          <p:nvPr>
            <p:ph idx="1"/>
          </p:nvPr>
        </p:nvSpPr>
        <p:spPr>
          <a:xfrm>
            <a:off x="606437" y="1585435"/>
            <a:ext cx="4698769" cy="4638383"/>
          </a:xfrm>
        </p:spPr>
        <p:txBody>
          <a:bodyPr>
            <a:normAutofit fontScale="62500" lnSpcReduction="20000"/>
          </a:bodyPr>
          <a:lstStyle/>
          <a:p>
            <a:r>
              <a:rPr lang="en-US" dirty="0"/>
              <a:t>GWO and PSO have been successfully implemented in drone trajectory optimization. The setting is a 1000x1000m parametrized world, with 10x10m grid sampling for SPL receiver calculation. The drone can move in the continuous space.</a:t>
            </a:r>
          </a:p>
          <a:p>
            <a:r>
              <a:rPr lang="it-IT" dirty="0" err="1"/>
              <a:t>Simplification</a:t>
            </a:r>
            <a:r>
              <a:rPr lang="it-IT" dirty="0"/>
              <a:t> </a:t>
            </a:r>
            <a:r>
              <a:rPr lang="it-IT" dirty="0" err="1"/>
              <a:t>adopted</a:t>
            </a:r>
            <a:r>
              <a:rPr lang="it-IT" dirty="0"/>
              <a:t> to make </a:t>
            </a:r>
            <a:r>
              <a:rPr lang="it-IT" dirty="0" err="1"/>
              <a:t>metaheuristics</a:t>
            </a:r>
            <a:r>
              <a:rPr lang="it-IT" dirty="0"/>
              <a:t> work:</a:t>
            </a:r>
          </a:p>
          <a:p>
            <a:pPr marL="914400" lvl="1" indent="-457200">
              <a:buAutoNum type="arabicPeriod"/>
            </a:pPr>
            <a:r>
              <a:rPr lang="en-US" dirty="0"/>
              <a:t>The trajectory is generated by defining intermediate waypoints between points A and B, which serve as the drone's targets for movement.</a:t>
            </a:r>
          </a:p>
          <a:p>
            <a:pPr marL="914400" lvl="1" indent="-457200">
              <a:buAutoNum type="arabicPeriod"/>
            </a:pPr>
            <a:r>
              <a:rPr lang="en-US" dirty="0"/>
              <a:t>The waypoint coordinates are defined as three-dimensional (x, y, z) perturbations from equidistant basepoints lying on the segment connecting points A and B.</a:t>
            </a:r>
          </a:p>
          <a:p>
            <a:r>
              <a:rPr lang="en-US" dirty="0"/>
              <a:t>The metaheuristics work fine, converge quickly, and they effectively reduce the total cost</a:t>
            </a:r>
          </a:p>
          <a:p>
            <a:r>
              <a:rPr lang="en-US" dirty="0"/>
              <a:t>Maybe exploration should be refined over exploitation, since convergence is “fast” but it remains into suboptimal solutions.</a:t>
            </a:r>
            <a:endParaRPr lang="it-IT" dirty="0"/>
          </a:p>
        </p:txBody>
      </p:sp>
      <p:pic>
        <p:nvPicPr>
          <p:cNvPr id="7" name="Immagine 6" descr="Immagine che contiene testo, schermata, schermo, software">
            <a:extLst>
              <a:ext uri="{FF2B5EF4-FFF2-40B4-BE49-F238E27FC236}">
                <a16:creationId xmlns:a16="http://schemas.microsoft.com/office/drawing/2014/main" id="{42431983-1819-9098-CE86-AF50B35F9FF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63926" y="720149"/>
            <a:ext cx="5593149" cy="3060280"/>
          </a:xfrm>
          <a:prstGeom prst="rect">
            <a:avLst/>
          </a:prstGeom>
        </p:spPr>
      </p:pic>
      <p:pic>
        <p:nvPicPr>
          <p:cNvPr id="9" name="Immagine 8">
            <a:extLst>
              <a:ext uri="{FF2B5EF4-FFF2-40B4-BE49-F238E27FC236}">
                <a16:creationId xmlns:a16="http://schemas.microsoft.com/office/drawing/2014/main" id="{860BF57C-FB7D-B52B-9AC3-FA80B7A73F94}"/>
              </a:ext>
            </a:extLst>
          </p:cNvPr>
          <p:cNvPicPr>
            <a:picLocks noChangeAspect="1"/>
          </p:cNvPicPr>
          <p:nvPr/>
        </p:nvPicPr>
        <p:blipFill>
          <a:blip r:embed="rId3"/>
          <a:stretch>
            <a:fillRect/>
          </a:stretch>
        </p:blipFill>
        <p:spPr>
          <a:xfrm>
            <a:off x="5463927" y="3757644"/>
            <a:ext cx="2928187" cy="2735231"/>
          </a:xfrm>
          <a:prstGeom prst="rect">
            <a:avLst/>
          </a:prstGeom>
        </p:spPr>
      </p:pic>
      <p:pic>
        <p:nvPicPr>
          <p:cNvPr id="11" name="Immagine 10">
            <a:extLst>
              <a:ext uri="{FF2B5EF4-FFF2-40B4-BE49-F238E27FC236}">
                <a16:creationId xmlns:a16="http://schemas.microsoft.com/office/drawing/2014/main" id="{23532483-BA86-9AA0-5510-51D6BEC2C5DE}"/>
              </a:ext>
            </a:extLst>
          </p:cNvPr>
          <p:cNvPicPr>
            <a:picLocks noChangeAspect="1"/>
          </p:cNvPicPr>
          <p:nvPr/>
        </p:nvPicPr>
        <p:blipFill>
          <a:blip r:embed="rId4"/>
          <a:stretch>
            <a:fillRect/>
          </a:stretch>
        </p:blipFill>
        <p:spPr>
          <a:xfrm>
            <a:off x="8285364" y="4049486"/>
            <a:ext cx="2931386" cy="2174332"/>
          </a:xfrm>
          <a:prstGeom prst="rect">
            <a:avLst/>
          </a:prstGeom>
        </p:spPr>
      </p:pic>
    </p:spTree>
    <p:extLst>
      <p:ext uri="{BB962C8B-B14F-4D97-AF65-F5344CB8AC3E}">
        <p14:creationId xmlns:p14="http://schemas.microsoft.com/office/powerpoint/2010/main" val="41429067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egnaposto contenuto 2">
            <a:extLst>
              <a:ext uri="{FF2B5EF4-FFF2-40B4-BE49-F238E27FC236}">
                <a16:creationId xmlns:a16="http://schemas.microsoft.com/office/drawing/2014/main" id="{2012C10F-183A-9544-7DF2-355F7E9FD3A2}"/>
              </a:ext>
            </a:extLst>
          </p:cNvPr>
          <p:cNvSpPr>
            <a:spLocks noGrp="1"/>
          </p:cNvSpPr>
          <p:nvPr>
            <p:ph idx="1"/>
          </p:nvPr>
        </p:nvSpPr>
        <p:spPr/>
        <p:txBody>
          <a:bodyPr>
            <a:normAutofit fontScale="85000" lnSpcReduction="20000"/>
          </a:bodyPr>
          <a:lstStyle/>
          <a:p>
            <a:r>
              <a:rPr lang="it-IT" dirty="0"/>
              <a:t>A first </a:t>
            </a:r>
            <a:r>
              <a:rPr lang="it-IT" dirty="0" err="1"/>
              <a:t>implementation</a:t>
            </a:r>
            <a:r>
              <a:rPr lang="it-IT" dirty="0"/>
              <a:t> of DRL (SAC) </a:t>
            </a:r>
            <a:r>
              <a:rPr lang="it-IT" dirty="0" err="1"/>
              <a:t>has</a:t>
            </a:r>
            <a:r>
              <a:rPr lang="it-IT" dirty="0"/>
              <a:t> </a:t>
            </a:r>
            <a:r>
              <a:rPr lang="it-IT" dirty="0" err="1"/>
              <a:t>been</a:t>
            </a:r>
            <a:r>
              <a:rPr lang="it-IT" dirty="0"/>
              <a:t> </a:t>
            </a:r>
            <a:r>
              <a:rPr lang="it-IT" dirty="0" err="1"/>
              <a:t>implemented</a:t>
            </a:r>
            <a:r>
              <a:rPr lang="it-IT" dirty="0"/>
              <a:t>. </a:t>
            </a:r>
          </a:p>
          <a:p>
            <a:r>
              <a:rPr lang="it-IT" dirty="0"/>
              <a:t>The </a:t>
            </a:r>
            <a:r>
              <a:rPr lang="it-IT" dirty="0" err="1"/>
              <a:t>environment</a:t>
            </a:r>
            <a:r>
              <a:rPr lang="it-IT" dirty="0"/>
              <a:t> </a:t>
            </a:r>
            <a:r>
              <a:rPr lang="it-IT" dirty="0" err="1"/>
              <a:t>is</a:t>
            </a:r>
            <a:r>
              <a:rPr lang="it-IT" dirty="0"/>
              <a:t> set </a:t>
            </a:r>
            <a:r>
              <a:rPr lang="it-IT" dirty="0" err="1"/>
              <a:t>as</a:t>
            </a:r>
            <a:r>
              <a:rPr lang="it-IT" dirty="0"/>
              <a:t> following:</a:t>
            </a:r>
          </a:p>
          <a:p>
            <a:pPr lvl="1"/>
            <a:r>
              <a:rPr lang="en-US" b="1" dirty="0"/>
              <a:t>State (observation) vector</a:t>
            </a:r>
            <a:r>
              <a:rPr lang="en-US" dirty="0"/>
              <a:t> – each step exposes the drone’s full simulated state</a:t>
            </a:r>
          </a:p>
          <a:p>
            <a:pPr lvl="1"/>
            <a:r>
              <a:rPr lang="en-US" b="1" dirty="0"/>
              <a:t>Action space</a:t>
            </a:r>
            <a:r>
              <a:rPr lang="en-US" dirty="0"/>
              <a:t> – actions describe perturbations around reference points sampled along the straight start </a:t>
            </a:r>
          </a:p>
          <a:p>
            <a:pPr lvl="2"/>
            <a:r>
              <a:rPr lang="en-US" dirty="0"/>
              <a:t>Per-step actions are clipped against both global bounds and waypoint-specific limits that reuse the metaheuristic bound builders, and they always stay inside the world cube before being converted to absolute waypoints with a commanded speed.</a:t>
            </a:r>
          </a:p>
          <a:p>
            <a:pPr lvl="2"/>
            <a:r>
              <a:rPr lang="en-US" dirty="0"/>
              <a:t>An additional gating dimension lets the SAC policy terminate waypoint proposal early; the environment respects that signal via a configurable threshold, finishing the episode without adding another waypoint.</a:t>
            </a:r>
          </a:p>
          <a:p>
            <a:pPr lvl="2"/>
            <a:r>
              <a:rPr lang="en-US" dirty="0"/>
              <a:t>Each proposed waypoint is immediately simulated as a single-leg flight: the first segment uses the initial state and later legs continue seamlessly; when an episode ends (goal reached, budget exhausted, or agent stops), the environment appends the real target waypoint and replays the terminal leg.</a:t>
            </a:r>
          </a:p>
          <a:p>
            <a:pPr lvl="2"/>
            <a:r>
              <a:rPr lang="en-US" dirty="0"/>
              <a:t>Stored trajectories are always in absolute coordinates.</a:t>
            </a:r>
          </a:p>
          <a:p>
            <a:pPr lvl="1"/>
            <a:r>
              <a:rPr lang="en-US" b="1" dirty="0"/>
              <a:t>Baseline episode</a:t>
            </a:r>
            <a:r>
              <a:rPr lang="en-US" dirty="0"/>
              <a:t> – a helper can be invoked to log the zero-waypoint straight-line flight</a:t>
            </a:r>
            <a:endParaRPr lang="it-IT" dirty="0"/>
          </a:p>
        </p:txBody>
      </p:sp>
      <p:sp>
        <p:nvSpPr>
          <p:cNvPr id="4" name="Titolo 1">
            <a:extLst>
              <a:ext uri="{FF2B5EF4-FFF2-40B4-BE49-F238E27FC236}">
                <a16:creationId xmlns:a16="http://schemas.microsoft.com/office/drawing/2014/main" id="{87B624EA-1EED-8050-E9D6-DFCACA42F479}"/>
              </a:ext>
            </a:extLst>
          </p:cNvPr>
          <p:cNvSpPr>
            <a:spLocks noGrp="1"/>
          </p:cNvSpPr>
          <p:nvPr>
            <p:ph type="title"/>
          </p:nvPr>
        </p:nvSpPr>
        <p:spPr>
          <a:xfrm>
            <a:off x="838200" y="365125"/>
            <a:ext cx="10515600" cy="1325563"/>
          </a:xfrm>
        </p:spPr>
        <p:txBody>
          <a:bodyPr/>
          <a:lstStyle/>
          <a:p>
            <a:r>
              <a:rPr lang="it-IT" dirty="0"/>
              <a:t>25.09.2025</a:t>
            </a:r>
          </a:p>
        </p:txBody>
      </p:sp>
    </p:spTree>
    <p:extLst>
      <p:ext uri="{BB962C8B-B14F-4D97-AF65-F5344CB8AC3E}">
        <p14:creationId xmlns:p14="http://schemas.microsoft.com/office/powerpoint/2010/main" val="27151433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egnaposto contenuto 2">
            <a:extLst>
              <a:ext uri="{FF2B5EF4-FFF2-40B4-BE49-F238E27FC236}">
                <a16:creationId xmlns:a16="http://schemas.microsoft.com/office/drawing/2014/main" id="{033438B8-CCC9-1A7E-312E-C977B78E09CA}"/>
              </a:ext>
            </a:extLst>
          </p:cNvPr>
          <p:cNvSpPr>
            <a:spLocks noGrp="1"/>
          </p:cNvSpPr>
          <p:nvPr>
            <p:ph idx="1"/>
          </p:nvPr>
        </p:nvSpPr>
        <p:spPr>
          <a:xfrm>
            <a:off x="838201" y="713064"/>
            <a:ext cx="6036578" cy="5463899"/>
          </a:xfrm>
        </p:spPr>
        <p:txBody>
          <a:bodyPr>
            <a:normAutofit fontScale="85000" lnSpcReduction="10000"/>
          </a:bodyPr>
          <a:lstStyle/>
          <a:p>
            <a:r>
              <a:rPr lang="it-IT" dirty="0"/>
              <a:t>First </a:t>
            </a:r>
            <a:r>
              <a:rPr lang="it-IT" dirty="0" err="1"/>
              <a:t>results</a:t>
            </a:r>
            <a:r>
              <a:rPr lang="it-IT" dirty="0"/>
              <a:t> show the agent </a:t>
            </a:r>
            <a:r>
              <a:rPr lang="it-IT" dirty="0" err="1"/>
              <a:t>is</a:t>
            </a:r>
            <a:r>
              <a:rPr lang="it-IT" dirty="0"/>
              <a:t> </a:t>
            </a:r>
            <a:r>
              <a:rPr lang="it-IT" dirty="0" err="1"/>
              <a:t>converging</a:t>
            </a:r>
            <a:r>
              <a:rPr lang="it-IT" dirty="0"/>
              <a:t> </a:t>
            </a:r>
            <a:r>
              <a:rPr lang="it-IT" dirty="0" err="1"/>
              <a:t>quickly</a:t>
            </a:r>
            <a:r>
              <a:rPr lang="it-IT" dirty="0"/>
              <a:t> </a:t>
            </a:r>
            <a:r>
              <a:rPr lang="it-IT" dirty="0" err="1"/>
              <a:t>at</a:t>
            </a:r>
            <a:r>
              <a:rPr lang="it-IT" dirty="0"/>
              <a:t> the </a:t>
            </a:r>
            <a:r>
              <a:rPr lang="it-IT" dirty="0" err="1"/>
              <a:t>beginning</a:t>
            </a:r>
            <a:r>
              <a:rPr lang="it-IT" dirty="0"/>
              <a:t> </a:t>
            </a:r>
            <a:r>
              <a:rPr lang="it-IT" dirty="0" err="1"/>
              <a:t>but</a:t>
            </a:r>
            <a:r>
              <a:rPr lang="it-IT" dirty="0"/>
              <a:t> </a:t>
            </a:r>
            <a:r>
              <a:rPr lang="it-IT" dirty="0" err="1"/>
              <a:t>it</a:t>
            </a:r>
            <a:r>
              <a:rPr lang="it-IT" dirty="0"/>
              <a:t> </a:t>
            </a:r>
            <a:r>
              <a:rPr lang="it-IT" dirty="0" err="1"/>
              <a:t>immediately</a:t>
            </a:r>
            <a:r>
              <a:rPr lang="it-IT" dirty="0"/>
              <a:t> </a:t>
            </a:r>
            <a:r>
              <a:rPr lang="it-IT" dirty="0" err="1"/>
              <a:t>stops</a:t>
            </a:r>
            <a:r>
              <a:rPr lang="it-IT" dirty="0"/>
              <a:t>. </a:t>
            </a:r>
            <a:r>
              <a:rPr lang="it-IT" dirty="0" err="1"/>
              <a:t>Probably</a:t>
            </a:r>
            <a:r>
              <a:rPr lang="it-IT" dirty="0"/>
              <a:t> </a:t>
            </a:r>
            <a:r>
              <a:rPr lang="it-IT" dirty="0" err="1"/>
              <a:t>parameters</a:t>
            </a:r>
            <a:r>
              <a:rPr lang="it-IT" dirty="0"/>
              <a:t> </a:t>
            </a:r>
            <a:r>
              <a:rPr lang="it-IT" dirty="0" err="1"/>
              <a:t>needed</a:t>
            </a:r>
            <a:r>
              <a:rPr lang="it-IT" dirty="0"/>
              <a:t> to be </a:t>
            </a:r>
            <a:r>
              <a:rPr lang="it-IT" dirty="0" err="1"/>
              <a:t>tuned</a:t>
            </a:r>
            <a:r>
              <a:rPr lang="it-IT" dirty="0"/>
              <a:t>/</a:t>
            </a:r>
            <a:r>
              <a:rPr lang="it-IT" dirty="0" err="1"/>
              <a:t>exploration</a:t>
            </a:r>
            <a:r>
              <a:rPr lang="it-IT" dirty="0"/>
              <a:t> </a:t>
            </a:r>
            <a:r>
              <a:rPr lang="it-IT" dirty="0" err="1"/>
              <a:t>needs</a:t>
            </a:r>
            <a:r>
              <a:rPr lang="it-IT" dirty="0"/>
              <a:t> to be </a:t>
            </a:r>
            <a:r>
              <a:rPr lang="it-IT" dirty="0" err="1"/>
              <a:t>increased</a:t>
            </a:r>
            <a:endParaRPr lang="it-IT" dirty="0"/>
          </a:p>
          <a:p>
            <a:r>
              <a:rPr lang="it-IT" dirty="0"/>
              <a:t>The </a:t>
            </a:r>
            <a:r>
              <a:rPr lang="it-IT" dirty="0" err="1"/>
              <a:t>problem</a:t>
            </a:r>
            <a:r>
              <a:rPr lang="it-IT" dirty="0"/>
              <a:t> </a:t>
            </a:r>
            <a:r>
              <a:rPr lang="it-IT" dirty="0" err="1"/>
              <a:t>could</a:t>
            </a:r>
            <a:r>
              <a:rPr lang="it-IT" dirty="0"/>
              <a:t> be </a:t>
            </a:r>
            <a:r>
              <a:rPr lang="it-IT" dirty="0" err="1"/>
              <a:t>formulated</a:t>
            </a:r>
            <a:r>
              <a:rPr lang="it-IT" dirty="0"/>
              <a:t> in </a:t>
            </a:r>
            <a:r>
              <a:rPr lang="it-IT" dirty="0" err="1"/>
              <a:t>another</a:t>
            </a:r>
            <a:r>
              <a:rPr lang="it-IT" dirty="0"/>
              <a:t> way: The action </a:t>
            </a:r>
            <a:r>
              <a:rPr lang="it-IT" dirty="0" err="1"/>
              <a:t>could</a:t>
            </a:r>
            <a:r>
              <a:rPr lang="it-IT" dirty="0"/>
              <a:t> set the position of the </a:t>
            </a:r>
            <a:r>
              <a:rPr lang="it-IT" dirty="0" err="1"/>
              <a:t>dynamic</a:t>
            </a:r>
            <a:r>
              <a:rPr lang="it-IT" dirty="0"/>
              <a:t> target </a:t>
            </a:r>
            <a:r>
              <a:rPr lang="it-IT" dirty="0" err="1"/>
              <a:t>every</a:t>
            </a:r>
            <a:r>
              <a:rPr lang="it-IT" dirty="0"/>
              <a:t> x steps. </a:t>
            </a:r>
            <a:r>
              <a:rPr lang="it-IT" dirty="0" err="1"/>
              <a:t>Reward</a:t>
            </a:r>
            <a:r>
              <a:rPr lang="it-IT" dirty="0"/>
              <a:t> can be </a:t>
            </a:r>
            <a:r>
              <a:rPr lang="it-IT" dirty="0" err="1"/>
              <a:t>calculated</a:t>
            </a:r>
            <a:r>
              <a:rPr lang="it-IT" dirty="0"/>
              <a:t> </a:t>
            </a:r>
            <a:r>
              <a:rPr lang="it-IT" dirty="0" err="1"/>
              <a:t>based</a:t>
            </a:r>
            <a:r>
              <a:rPr lang="it-IT" dirty="0"/>
              <a:t> on the cost </a:t>
            </a:r>
            <a:r>
              <a:rPr lang="it-IT" dirty="0" err="1"/>
              <a:t>function</a:t>
            </a:r>
            <a:r>
              <a:rPr lang="it-IT" dirty="0"/>
              <a:t> and the </a:t>
            </a:r>
            <a:r>
              <a:rPr lang="it-IT" dirty="0" err="1"/>
              <a:t>distance</a:t>
            </a:r>
            <a:r>
              <a:rPr lang="it-IT" dirty="0"/>
              <a:t> from the target.</a:t>
            </a:r>
          </a:p>
          <a:p>
            <a:r>
              <a:rPr lang="it-IT" dirty="0"/>
              <a:t>A </a:t>
            </a:r>
            <a:r>
              <a:rPr lang="it-IT" dirty="0" err="1"/>
              <a:t>main</a:t>
            </a:r>
            <a:r>
              <a:rPr lang="it-IT" dirty="0"/>
              <a:t> </a:t>
            </a:r>
            <a:r>
              <a:rPr lang="it-IT" dirty="0" err="1"/>
              <a:t>finding</a:t>
            </a:r>
            <a:r>
              <a:rPr lang="it-IT" dirty="0"/>
              <a:t>: a big </a:t>
            </a:r>
            <a:r>
              <a:rPr lang="it-IT" dirty="0" err="1"/>
              <a:t>difficulty</a:t>
            </a:r>
            <a:r>
              <a:rPr lang="it-IT" dirty="0"/>
              <a:t> with RL </a:t>
            </a:r>
            <a:r>
              <a:rPr lang="it-IT" dirty="0" err="1"/>
              <a:t>is</a:t>
            </a:r>
            <a:r>
              <a:rPr lang="it-IT" dirty="0"/>
              <a:t> the </a:t>
            </a:r>
            <a:r>
              <a:rPr lang="it-IT" dirty="0" err="1"/>
              <a:t>problem</a:t>
            </a:r>
            <a:r>
              <a:rPr lang="it-IT" dirty="0"/>
              <a:t> </a:t>
            </a:r>
            <a:r>
              <a:rPr lang="it-IT" dirty="0" err="1"/>
              <a:t>formulation</a:t>
            </a:r>
            <a:r>
              <a:rPr lang="it-IT" dirty="0"/>
              <a:t>. </a:t>
            </a:r>
            <a:r>
              <a:rPr lang="it-IT" dirty="0" err="1"/>
              <a:t>It</a:t>
            </a:r>
            <a:r>
              <a:rPr lang="it-IT" dirty="0"/>
              <a:t> can be </a:t>
            </a:r>
            <a:r>
              <a:rPr lang="it-IT" dirty="0" err="1"/>
              <a:t>formulated</a:t>
            </a:r>
            <a:r>
              <a:rPr lang="it-IT" dirty="0"/>
              <a:t> in </a:t>
            </a:r>
            <a:r>
              <a:rPr lang="it-IT" dirty="0" err="1"/>
              <a:t>very</a:t>
            </a:r>
            <a:r>
              <a:rPr lang="it-IT" dirty="0"/>
              <a:t> </a:t>
            </a:r>
            <a:r>
              <a:rPr lang="it-IT" dirty="0" err="1"/>
              <a:t>different</a:t>
            </a:r>
            <a:r>
              <a:rPr lang="it-IT" dirty="0"/>
              <a:t> ways and </a:t>
            </a:r>
            <a:r>
              <a:rPr lang="it-IT" dirty="0" err="1"/>
              <a:t>you</a:t>
            </a:r>
            <a:r>
              <a:rPr lang="it-IT" dirty="0"/>
              <a:t> </a:t>
            </a:r>
            <a:r>
              <a:rPr lang="it-IT" dirty="0" err="1"/>
              <a:t>cannot</a:t>
            </a:r>
            <a:r>
              <a:rPr lang="it-IT" dirty="0"/>
              <a:t> </a:t>
            </a:r>
            <a:r>
              <a:rPr lang="it-IT" dirty="0" err="1"/>
              <a:t>say</a:t>
            </a:r>
            <a:r>
              <a:rPr lang="it-IT" dirty="0"/>
              <a:t> </a:t>
            </a:r>
            <a:r>
              <a:rPr lang="it-IT" dirty="0" err="1"/>
              <a:t>which</a:t>
            </a:r>
            <a:r>
              <a:rPr lang="it-IT" dirty="0"/>
              <a:t> </a:t>
            </a:r>
            <a:r>
              <a:rPr lang="it-IT" dirty="0" err="1"/>
              <a:t>is</a:t>
            </a:r>
            <a:r>
              <a:rPr lang="it-IT" dirty="0"/>
              <a:t> the best. </a:t>
            </a:r>
            <a:r>
              <a:rPr lang="it-IT" dirty="0" err="1"/>
              <a:t>We</a:t>
            </a:r>
            <a:r>
              <a:rPr lang="it-IT" dirty="0"/>
              <a:t> </a:t>
            </a:r>
            <a:r>
              <a:rPr lang="it-IT" dirty="0" err="1"/>
              <a:t>need</a:t>
            </a:r>
            <a:r>
              <a:rPr lang="it-IT" dirty="0"/>
              <a:t> literature review on </a:t>
            </a:r>
            <a:r>
              <a:rPr lang="it-IT" dirty="0" err="1"/>
              <a:t>that</a:t>
            </a:r>
            <a:r>
              <a:rPr lang="it-IT" dirty="0"/>
              <a:t>.</a:t>
            </a:r>
          </a:p>
          <a:p>
            <a:r>
              <a:rPr lang="it-IT" dirty="0" err="1"/>
              <a:t>Another</a:t>
            </a:r>
            <a:r>
              <a:rPr lang="it-IT" dirty="0"/>
              <a:t> </a:t>
            </a:r>
            <a:r>
              <a:rPr lang="it-IT" dirty="0" err="1"/>
              <a:t>difficulty</a:t>
            </a:r>
            <a:r>
              <a:rPr lang="it-IT" dirty="0"/>
              <a:t> </a:t>
            </a:r>
            <a:r>
              <a:rPr lang="it-IT" dirty="0" err="1"/>
              <a:t>is</a:t>
            </a:r>
            <a:r>
              <a:rPr lang="it-IT" dirty="0"/>
              <a:t> </a:t>
            </a:r>
            <a:r>
              <a:rPr lang="it-IT" dirty="0" err="1"/>
              <a:t>finding</a:t>
            </a:r>
            <a:r>
              <a:rPr lang="it-IT" dirty="0"/>
              <a:t> a rule to set the gain to the cost </a:t>
            </a:r>
            <a:r>
              <a:rPr lang="it-IT" dirty="0" err="1"/>
              <a:t>function</a:t>
            </a:r>
            <a:endParaRPr lang="it-IT" dirty="0"/>
          </a:p>
        </p:txBody>
      </p:sp>
      <p:pic>
        <p:nvPicPr>
          <p:cNvPr id="8" name="Immagine 7" descr="Immagine che contiene testo, linea, schermata, Diagramma&#10;&#10;Il contenuto generato dall'IA potrebbe non essere corretto.">
            <a:extLst>
              <a:ext uri="{FF2B5EF4-FFF2-40B4-BE49-F238E27FC236}">
                <a16:creationId xmlns:a16="http://schemas.microsoft.com/office/drawing/2014/main" id="{4B42231E-B469-15C6-7010-F554B48D12E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31839" y="636525"/>
            <a:ext cx="4733318" cy="3160028"/>
          </a:xfrm>
          <a:prstGeom prst="rect">
            <a:avLst/>
          </a:prstGeom>
        </p:spPr>
      </p:pic>
      <p:sp>
        <p:nvSpPr>
          <p:cNvPr id="9" name="CasellaDiTesto 8">
            <a:extLst>
              <a:ext uri="{FF2B5EF4-FFF2-40B4-BE49-F238E27FC236}">
                <a16:creationId xmlns:a16="http://schemas.microsoft.com/office/drawing/2014/main" id="{CF95144F-74F2-0627-1021-4E142E0E77E7}"/>
              </a:ext>
            </a:extLst>
          </p:cNvPr>
          <p:cNvSpPr txBox="1"/>
          <p:nvPr/>
        </p:nvSpPr>
        <p:spPr>
          <a:xfrm>
            <a:off x="7654748" y="3737378"/>
            <a:ext cx="2850777" cy="369332"/>
          </a:xfrm>
          <a:prstGeom prst="rect">
            <a:avLst/>
          </a:prstGeom>
          <a:noFill/>
        </p:spPr>
        <p:txBody>
          <a:bodyPr wrap="square" rtlCol="0">
            <a:spAutoFit/>
          </a:bodyPr>
          <a:lstStyle/>
          <a:p>
            <a:r>
              <a:rPr lang="de-CH" dirty="0" err="1"/>
              <a:t>Avg</a:t>
            </a:r>
            <a:r>
              <a:rPr lang="de-CH" dirty="0"/>
              <a:t> </a:t>
            </a:r>
            <a:r>
              <a:rPr lang="de-CH" dirty="0" err="1"/>
              <a:t>episode</a:t>
            </a:r>
            <a:r>
              <a:rPr lang="de-CH" dirty="0"/>
              <a:t> time: 66.034s</a:t>
            </a:r>
            <a:endParaRPr lang="it-IT" dirty="0"/>
          </a:p>
        </p:txBody>
      </p:sp>
    </p:spTree>
    <p:extLst>
      <p:ext uri="{BB962C8B-B14F-4D97-AF65-F5344CB8AC3E}">
        <p14:creationId xmlns:p14="http://schemas.microsoft.com/office/powerpoint/2010/main" val="26149211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D27D83F-8C7B-A1A7-0FEC-6B9397C1615C}"/>
              </a:ext>
            </a:extLst>
          </p:cNvPr>
          <p:cNvSpPr>
            <a:spLocks noGrp="1"/>
          </p:cNvSpPr>
          <p:nvPr>
            <p:ph type="title"/>
          </p:nvPr>
        </p:nvSpPr>
        <p:spPr/>
        <p:txBody>
          <a:bodyPr/>
          <a:lstStyle/>
          <a:p>
            <a:r>
              <a:rPr lang="it-IT" dirty="0"/>
              <a:t>30.09.2025 – SAC </a:t>
            </a:r>
            <a:r>
              <a:rPr lang="it-IT" dirty="0" err="1"/>
              <a:t>Results</a:t>
            </a:r>
            <a:r>
              <a:rPr lang="it-IT" dirty="0"/>
              <a:t>:</a:t>
            </a:r>
          </a:p>
        </p:txBody>
      </p:sp>
      <p:pic>
        <p:nvPicPr>
          <p:cNvPr id="5" name="Immagine 4" descr="Immagine che contiene testo, schermata, diagramma, linea&#10;&#10;Il contenuto generato dall'IA potrebbe non essere corretto.">
            <a:extLst>
              <a:ext uri="{FF2B5EF4-FFF2-40B4-BE49-F238E27FC236}">
                <a16:creationId xmlns:a16="http://schemas.microsoft.com/office/drawing/2014/main" id="{807C1F37-88A2-C773-EAC7-CD3D57537A5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8909" y="1537459"/>
            <a:ext cx="6705962" cy="3669153"/>
          </a:xfrm>
          <a:prstGeom prst="rect">
            <a:avLst/>
          </a:prstGeom>
        </p:spPr>
      </p:pic>
      <p:pic>
        <p:nvPicPr>
          <p:cNvPr id="7" name="Immagine 6">
            <a:extLst>
              <a:ext uri="{FF2B5EF4-FFF2-40B4-BE49-F238E27FC236}">
                <a16:creationId xmlns:a16="http://schemas.microsoft.com/office/drawing/2014/main" id="{3A5762B4-FB11-CE8C-E453-C22F4FE95287}"/>
              </a:ext>
            </a:extLst>
          </p:cNvPr>
          <p:cNvPicPr>
            <a:picLocks noChangeAspect="1"/>
          </p:cNvPicPr>
          <p:nvPr/>
        </p:nvPicPr>
        <p:blipFill>
          <a:blip r:embed="rId3"/>
          <a:stretch>
            <a:fillRect/>
          </a:stretch>
        </p:blipFill>
        <p:spPr>
          <a:xfrm>
            <a:off x="7983550" y="192610"/>
            <a:ext cx="3509203" cy="3327010"/>
          </a:xfrm>
          <a:prstGeom prst="rect">
            <a:avLst/>
          </a:prstGeom>
        </p:spPr>
      </p:pic>
      <p:pic>
        <p:nvPicPr>
          <p:cNvPr id="9" name="Immagine 8">
            <a:extLst>
              <a:ext uri="{FF2B5EF4-FFF2-40B4-BE49-F238E27FC236}">
                <a16:creationId xmlns:a16="http://schemas.microsoft.com/office/drawing/2014/main" id="{53CEF7CA-01BB-9A46-66C6-18FE28A9A510}"/>
              </a:ext>
            </a:extLst>
          </p:cNvPr>
          <p:cNvPicPr>
            <a:picLocks noChangeAspect="1"/>
          </p:cNvPicPr>
          <p:nvPr/>
        </p:nvPicPr>
        <p:blipFill>
          <a:blip r:embed="rId4"/>
          <a:stretch>
            <a:fillRect/>
          </a:stretch>
        </p:blipFill>
        <p:spPr>
          <a:xfrm>
            <a:off x="8062660" y="3656536"/>
            <a:ext cx="3430093" cy="2763816"/>
          </a:xfrm>
          <a:prstGeom prst="rect">
            <a:avLst/>
          </a:prstGeom>
        </p:spPr>
      </p:pic>
      <p:sp>
        <p:nvSpPr>
          <p:cNvPr id="10" name="CasellaDiTesto 9">
            <a:extLst>
              <a:ext uri="{FF2B5EF4-FFF2-40B4-BE49-F238E27FC236}">
                <a16:creationId xmlns:a16="http://schemas.microsoft.com/office/drawing/2014/main" id="{BA4D92BC-8B69-27F4-43D6-F46F294E668A}"/>
              </a:ext>
            </a:extLst>
          </p:cNvPr>
          <p:cNvSpPr txBox="1"/>
          <p:nvPr/>
        </p:nvSpPr>
        <p:spPr>
          <a:xfrm>
            <a:off x="699247" y="5288272"/>
            <a:ext cx="3209365" cy="369332"/>
          </a:xfrm>
          <a:prstGeom prst="rect">
            <a:avLst/>
          </a:prstGeom>
          <a:noFill/>
        </p:spPr>
        <p:txBody>
          <a:bodyPr wrap="square" rtlCol="0">
            <a:spAutoFit/>
          </a:bodyPr>
          <a:lstStyle/>
          <a:p>
            <a:r>
              <a:rPr lang="de-CH" dirty="0"/>
              <a:t>Total time: </a:t>
            </a:r>
            <a:r>
              <a:rPr lang="de-CH" dirty="0" err="1"/>
              <a:t>around</a:t>
            </a:r>
            <a:r>
              <a:rPr lang="de-CH" dirty="0"/>
              <a:t> 5h (315min)</a:t>
            </a:r>
            <a:endParaRPr lang="it-IT" dirty="0"/>
          </a:p>
        </p:txBody>
      </p:sp>
      <p:sp>
        <p:nvSpPr>
          <p:cNvPr id="11" name="CasellaDiTesto 10">
            <a:extLst>
              <a:ext uri="{FF2B5EF4-FFF2-40B4-BE49-F238E27FC236}">
                <a16:creationId xmlns:a16="http://schemas.microsoft.com/office/drawing/2014/main" id="{13E19332-7508-B0F7-0871-2B27B03F8BDC}"/>
              </a:ext>
            </a:extLst>
          </p:cNvPr>
          <p:cNvSpPr txBox="1"/>
          <p:nvPr/>
        </p:nvSpPr>
        <p:spPr>
          <a:xfrm>
            <a:off x="699247" y="5753586"/>
            <a:ext cx="6342529" cy="646331"/>
          </a:xfrm>
          <a:prstGeom prst="rect">
            <a:avLst/>
          </a:prstGeom>
          <a:noFill/>
        </p:spPr>
        <p:txBody>
          <a:bodyPr wrap="square" rtlCol="0">
            <a:spAutoFit/>
          </a:bodyPr>
          <a:lstStyle/>
          <a:p>
            <a:pPr marL="285750" indent="-285750">
              <a:buFont typeface="Arial" panose="020B0604020202020204" pitchFamily="34" charset="0"/>
              <a:buChar char="•"/>
            </a:pPr>
            <a:r>
              <a:rPr lang="de-CH" dirty="0" err="1"/>
              <a:t>It</a:t>
            </a:r>
            <a:r>
              <a:rPr lang="de-CH" dirty="0"/>
              <a:t> </a:t>
            </a:r>
            <a:r>
              <a:rPr lang="de-CH" dirty="0" err="1"/>
              <a:t>would</a:t>
            </a:r>
            <a:r>
              <a:rPr lang="de-CH" dirty="0"/>
              <a:t> </a:t>
            </a:r>
            <a:r>
              <a:rPr lang="de-CH" dirty="0" err="1"/>
              <a:t>maybe</a:t>
            </a:r>
            <a:r>
              <a:rPr lang="de-CH" dirty="0"/>
              <a:t> </a:t>
            </a:r>
            <a:r>
              <a:rPr lang="de-CH" dirty="0" err="1"/>
              <a:t>make</a:t>
            </a:r>
            <a:r>
              <a:rPr lang="de-CH" dirty="0"/>
              <a:t> sense </a:t>
            </a:r>
            <a:r>
              <a:rPr lang="de-CH" dirty="0" err="1"/>
              <a:t>to</a:t>
            </a:r>
            <a:r>
              <a:rPr lang="de-CH" dirty="0"/>
              <a:t> </a:t>
            </a:r>
            <a:r>
              <a:rPr lang="de-CH" dirty="0" err="1"/>
              <a:t>provide</a:t>
            </a:r>
            <a:r>
              <a:rPr lang="de-CH" dirty="0"/>
              <a:t> </a:t>
            </a:r>
            <a:r>
              <a:rPr lang="de-CH" dirty="0" err="1"/>
              <a:t>to</a:t>
            </a:r>
            <a:r>
              <a:rPr lang="de-CH" dirty="0"/>
              <a:t> </a:t>
            </a:r>
            <a:r>
              <a:rPr lang="de-CH" dirty="0" err="1"/>
              <a:t>the</a:t>
            </a:r>
            <a:r>
              <a:rPr lang="de-CH" dirty="0"/>
              <a:t> </a:t>
            </a:r>
            <a:r>
              <a:rPr lang="de-CH" dirty="0" err="1"/>
              <a:t>algorithm</a:t>
            </a:r>
            <a:r>
              <a:rPr lang="de-CH" dirty="0"/>
              <a:t> an initial human </a:t>
            </a:r>
            <a:r>
              <a:rPr lang="de-CH" dirty="0" err="1"/>
              <a:t>guess</a:t>
            </a:r>
            <a:r>
              <a:rPr lang="de-CH" dirty="0"/>
              <a:t>?</a:t>
            </a:r>
            <a:endParaRPr lang="it-IT" dirty="0"/>
          </a:p>
        </p:txBody>
      </p:sp>
    </p:spTree>
    <p:extLst>
      <p:ext uri="{BB962C8B-B14F-4D97-AF65-F5344CB8AC3E}">
        <p14:creationId xmlns:p14="http://schemas.microsoft.com/office/powerpoint/2010/main" val="38722150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D885924-DD14-C22B-48A9-047F1AA5E956}"/>
              </a:ext>
            </a:extLst>
          </p:cNvPr>
          <p:cNvSpPr>
            <a:spLocks noGrp="1"/>
          </p:cNvSpPr>
          <p:nvPr>
            <p:ph type="title"/>
          </p:nvPr>
        </p:nvSpPr>
        <p:spPr/>
        <p:txBody>
          <a:bodyPr/>
          <a:lstStyle/>
          <a:p>
            <a:r>
              <a:rPr lang="it-IT" dirty="0"/>
              <a:t>30.09.2025 – </a:t>
            </a:r>
            <a:r>
              <a:rPr lang="it-IT" dirty="0" err="1"/>
              <a:t>Biggest</a:t>
            </a:r>
            <a:r>
              <a:rPr lang="it-IT" dirty="0"/>
              <a:t> </a:t>
            </a:r>
            <a:r>
              <a:rPr lang="it-IT" dirty="0" err="1"/>
              <a:t>difficulties</a:t>
            </a:r>
            <a:endParaRPr lang="it-IT" dirty="0"/>
          </a:p>
        </p:txBody>
      </p:sp>
      <p:sp>
        <p:nvSpPr>
          <p:cNvPr id="3" name="Segnaposto contenuto 2">
            <a:extLst>
              <a:ext uri="{FF2B5EF4-FFF2-40B4-BE49-F238E27FC236}">
                <a16:creationId xmlns:a16="http://schemas.microsoft.com/office/drawing/2014/main" id="{588D0D3E-B561-E673-1690-EEF374426831}"/>
              </a:ext>
            </a:extLst>
          </p:cNvPr>
          <p:cNvSpPr>
            <a:spLocks noGrp="1"/>
          </p:cNvSpPr>
          <p:nvPr>
            <p:ph idx="1"/>
          </p:nvPr>
        </p:nvSpPr>
        <p:spPr/>
        <p:txBody>
          <a:bodyPr/>
          <a:lstStyle/>
          <a:p>
            <a:r>
              <a:rPr lang="it-IT" b="1" dirty="0" err="1"/>
              <a:t>Problem</a:t>
            </a:r>
            <a:r>
              <a:rPr lang="it-IT" b="1" dirty="0"/>
              <a:t>: </a:t>
            </a:r>
            <a:r>
              <a:rPr lang="it-IT" dirty="0"/>
              <a:t>RL can be </a:t>
            </a:r>
            <a:r>
              <a:rPr lang="it-IT" dirty="0" err="1"/>
              <a:t>implemented</a:t>
            </a:r>
            <a:r>
              <a:rPr lang="it-IT" dirty="0"/>
              <a:t>, </a:t>
            </a:r>
            <a:r>
              <a:rPr lang="it-IT" dirty="0" err="1"/>
              <a:t>but</a:t>
            </a:r>
            <a:r>
              <a:rPr lang="it-IT" dirty="0"/>
              <a:t> </a:t>
            </a:r>
            <a:r>
              <a:rPr lang="it-IT" dirty="0" err="1"/>
              <a:t>it’s</a:t>
            </a:r>
            <a:r>
              <a:rPr lang="it-IT" dirty="0"/>
              <a:t> reliability </a:t>
            </a:r>
            <a:r>
              <a:rPr lang="it-IT" dirty="0" err="1"/>
              <a:t>higly</a:t>
            </a:r>
            <a:r>
              <a:rPr lang="it-IT" dirty="0"/>
              <a:t> </a:t>
            </a:r>
            <a:r>
              <a:rPr lang="it-IT" dirty="0" err="1"/>
              <a:t>depends</a:t>
            </a:r>
            <a:r>
              <a:rPr lang="it-IT" dirty="0"/>
              <a:t> on </a:t>
            </a:r>
            <a:r>
              <a:rPr lang="it-IT" dirty="0" err="1"/>
              <a:t>hyperparameter</a:t>
            </a:r>
            <a:r>
              <a:rPr lang="it-IT" dirty="0"/>
              <a:t> tuning. </a:t>
            </a:r>
            <a:r>
              <a:rPr lang="it-IT" b="1" dirty="0" err="1"/>
              <a:t>Possible</a:t>
            </a:r>
            <a:r>
              <a:rPr lang="it-IT" b="1" dirty="0"/>
              <a:t> </a:t>
            </a:r>
            <a:r>
              <a:rPr lang="it-IT" b="1" dirty="0" err="1"/>
              <a:t>solution</a:t>
            </a:r>
            <a:r>
              <a:rPr lang="it-IT" b="1" dirty="0"/>
              <a:t>:</a:t>
            </a:r>
            <a:r>
              <a:rPr lang="it-IT" dirty="0"/>
              <a:t> </a:t>
            </a:r>
            <a:r>
              <a:rPr lang="it-IT" dirty="0" err="1"/>
              <a:t>Optimization</a:t>
            </a:r>
            <a:r>
              <a:rPr lang="it-IT" dirty="0"/>
              <a:t> </a:t>
            </a:r>
            <a:r>
              <a:rPr lang="it-IT" dirty="0" err="1"/>
              <a:t>could</a:t>
            </a:r>
            <a:r>
              <a:rPr lang="it-IT" dirty="0"/>
              <a:t> be </a:t>
            </a:r>
            <a:r>
              <a:rPr lang="it-IT" dirty="0" err="1"/>
              <a:t>considered</a:t>
            </a:r>
            <a:r>
              <a:rPr lang="it-IT" dirty="0"/>
              <a:t>, like </a:t>
            </a:r>
            <a:r>
              <a:rPr lang="it-IT" dirty="0" err="1"/>
              <a:t>Optuna</a:t>
            </a:r>
            <a:r>
              <a:rPr lang="it-IT" dirty="0"/>
              <a:t>.</a:t>
            </a:r>
          </a:p>
          <a:p>
            <a:r>
              <a:rPr lang="it-IT" b="1" dirty="0" err="1"/>
              <a:t>Problem</a:t>
            </a:r>
            <a:r>
              <a:rPr lang="it-IT" b="1" dirty="0"/>
              <a:t>: </a:t>
            </a:r>
            <a:r>
              <a:rPr lang="it-IT" dirty="0" err="1"/>
              <a:t>There</a:t>
            </a:r>
            <a:r>
              <a:rPr lang="it-IT" dirty="0"/>
              <a:t> are no </a:t>
            </a:r>
            <a:r>
              <a:rPr lang="it-IT" dirty="0" err="1"/>
              <a:t>clue</a:t>
            </a:r>
            <a:r>
              <a:rPr lang="it-IT" dirty="0"/>
              <a:t> on </a:t>
            </a:r>
            <a:r>
              <a:rPr lang="it-IT" dirty="0" err="1"/>
              <a:t>how</a:t>
            </a:r>
            <a:r>
              <a:rPr lang="it-IT" dirty="0"/>
              <a:t> to set cost </a:t>
            </a:r>
            <a:r>
              <a:rPr lang="it-IT" dirty="0" err="1"/>
              <a:t>function</a:t>
            </a:r>
            <a:r>
              <a:rPr lang="it-IT" dirty="0"/>
              <a:t> weight to </a:t>
            </a:r>
            <a:r>
              <a:rPr lang="it-IT" dirty="0" err="1"/>
              <a:t>mimic</a:t>
            </a:r>
            <a:r>
              <a:rPr lang="it-IT" dirty="0"/>
              <a:t> the </a:t>
            </a:r>
            <a:r>
              <a:rPr lang="it-IT" dirty="0" err="1"/>
              <a:t>real</a:t>
            </a:r>
            <a:r>
              <a:rPr lang="it-IT" dirty="0"/>
              <a:t> </a:t>
            </a:r>
            <a:r>
              <a:rPr lang="it-IT" dirty="0" err="1"/>
              <a:t>necessities</a:t>
            </a:r>
            <a:r>
              <a:rPr lang="it-IT" dirty="0"/>
              <a:t>.</a:t>
            </a:r>
          </a:p>
          <a:p>
            <a:r>
              <a:rPr lang="it-IT" b="1" dirty="0" err="1"/>
              <a:t>Problem</a:t>
            </a:r>
            <a:r>
              <a:rPr lang="it-IT" b="1" dirty="0"/>
              <a:t>: </a:t>
            </a:r>
            <a:r>
              <a:rPr lang="it-IT" dirty="0" err="1"/>
              <a:t>Simulation</a:t>
            </a:r>
            <a:r>
              <a:rPr lang="it-IT" dirty="0"/>
              <a:t>-to-reality gap. </a:t>
            </a:r>
            <a:r>
              <a:rPr lang="it-IT" b="1" dirty="0" err="1"/>
              <a:t>Possible</a:t>
            </a:r>
            <a:r>
              <a:rPr lang="it-IT" b="1" dirty="0"/>
              <a:t> </a:t>
            </a:r>
            <a:r>
              <a:rPr lang="it-IT" b="1" dirty="0" err="1"/>
              <a:t>solution</a:t>
            </a:r>
            <a:r>
              <a:rPr lang="it-IT" b="1" dirty="0"/>
              <a:t>: </a:t>
            </a:r>
            <a:r>
              <a:rPr lang="en-US" dirty="0"/>
              <a:t>Develop better </a:t>
            </a:r>
            <a:r>
              <a:rPr lang="en-US" i="1" dirty="0">
                <a:hlinkClick r:id="rId2"/>
              </a:rPr>
              <a:t>sim-to-real transfer </a:t>
            </a:r>
            <a:r>
              <a:rPr lang="en-US" dirty="0">
                <a:hlinkClick r:id="rId2"/>
              </a:rPr>
              <a:t>methods</a:t>
            </a:r>
            <a:endParaRPr lang="en-US" dirty="0"/>
          </a:p>
          <a:p>
            <a:r>
              <a:rPr lang="en-US" b="1" dirty="0"/>
              <a:t>Problem:</a:t>
            </a:r>
            <a:r>
              <a:rPr lang="en-US" dirty="0"/>
              <a:t> The agent cannot generalize in multiple maps. It’s logically </a:t>
            </a:r>
            <a:r>
              <a:rPr lang="en-US" dirty="0" err="1"/>
              <a:t>nosense</a:t>
            </a:r>
            <a:r>
              <a:rPr lang="en-US" dirty="0"/>
              <a:t> thinking that it could just following this procedure or similar ones.</a:t>
            </a:r>
            <a:endParaRPr lang="it-IT" b="1" dirty="0"/>
          </a:p>
        </p:txBody>
      </p:sp>
    </p:spTree>
    <p:extLst>
      <p:ext uri="{BB962C8B-B14F-4D97-AF65-F5344CB8AC3E}">
        <p14:creationId xmlns:p14="http://schemas.microsoft.com/office/powerpoint/2010/main" val="30903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9BC1B2C-6698-C27E-DCE4-3BC75E894698}"/>
              </a:ext>
            </a:extLst>
          </p:cNvPr>
          <p:cNvSpPr>
            <a:spLocks noGrp="1"/>
          </p:cNvSpPr>
          <p:nvPr>
            <p:ph type="title"/>
          </p:nvPr>
        </p:nvSpPr>
        <p:spPr/>
        <p:txBody>
          <a:bodyPr/>
          <a:lstStyle/>
          <a:p>
            <a:r>
              <a:rPr lang="it-IT" dirty="0"/>
              <a:t>01.10.2025</a:t>
            </a:r>
          </a:p>
        </p:txBody>
      </p:sp>
      <p:sp>
        <p:nvSpPr>
          <p:cNvPr id="3" name="Segnaposto contenuto 2">
            <a:extLst>
              <a:ext uri="{FF2B5EF4-FFF2-40B4-BE49-F238E27FC236}">
                <a16:creationId xmlns:a16="http://schemas.microsoft.com/office/drawing/2014/main" id="{EBE3B6A8-BB0E-D0F1-91A0-79DE6DB14081}"/>
              </a:ext>
            </a:extLst>
          </p:cNvPr>
          <p:cNvSpPr>
            <a:spLocks noGrp="1"/>
          </p:cNvSpPr>
          <p:nvPr>
            <p:ph idx="1"/>
          </p:nvPr>
        </p:nvSpPr>
        <p:spPr>
          <a:xfrm>
            <a:off x="838199" y="1825625"/>
            <a:ext cx="7019365" cy="1854387"/>
          </a:xfrm>
        </p:spPr>
        <p:txBody>
          <a:bodyPr>
            <a:normAutofit fontScale="92500" lnSpcReduction="10000"/>
          </a:bodyPr>
          <a:lstStyle/>
          <a:p>
            <a:r>
              <a:rPr lang="it-IT" dirty="0"/>
              <a:t>New </a:t>
            </a:r>
            <a:r>
              <a:rPr lang="it-IT" dirty="0" err="1"/>
              <a:t>results</a:t>
            </a:r>
            <a:r>
              <a:rPr lang="it-IT" dirty="0"/>
              <a:t> from SAC </a:t>
            </a:r>
            <a:r>
              <a:rPr lang="it-IT" dirty="0" err="1"/>
              <a:t>when</a:t>
            </a:r>
            <a:r>
              <a:rPr lang="it-IT" dirty="0"/>
              <a:t> </a:t>
            </a:r>
            <a:r>
              <a:rPr lang="it-IT" dirty="0" err="1"/>
              <a:t>applying</a:t>
            </a:r>
            <a:r>
              <a:rPr lang="it-IT" dirty="0"/>
              <a:t> </a:t>
            </a:r>
            <a:r>
              <a:rPr lang="it-IT" dirty="0" err="1"/>
              <a:t>all</a:t>
            </a:r>
            <a:r>
              <a:rPr lang="it-IT" dirty="0"/>
              <a:t> the «</a:t>
            </a:r>
            <a:r>
              <a:rPr lang="it-IT" dirty="0" err="1"/>
              <a:t>tricks</a:t>
            </a:r>
            <a:r>
              <a:rPr lang="it-IT" dirty="0"/>
              <a:t>»</a:t>
            </a:r>
          </a:p>
          <a:p>
            <a:r>
              <a:rPr lang="it-IT" dirty="0"/>
              <a:t>The </a:t>
            </a:r>
            <a:r>
              <a:rPr lang="it-IT" dirty="0" err="1"/>
              <a:t>trajectory</a:t>
            </a:r>
            <a:r>
              <a:rPr lang="it-IT" dirty="0"/>
              <a:t> </a:t>
            </a:r>
            <a:r>
              <a:rPr lang="it-IT" dirty="0" err="1"/>
              <a:t>still</a:t>
            </a:r>
            <a:r>
              <a:rPr lang="it-IT" dirty="0"/>
              <a:t> </a:t>
            </a:r>
            <a:r>
              <a:rPr lang="it-IT" dirty="0" err="1"/>
              <a:t>doesn’t</a:t>
            </a:r>
            <a:r>
              <a:rPr lang="it-IT" dirty="0"/>
              <a:t> look like the best. </a:t>
            </a:r>
            <a:r>
              <a:rPr lang="it-IT" dirty="0" err="1"/>
              <a:t>It’s</a:t>
            </a:r>
            <a:r>
              <a:rPr lang="it-IT" dirty="0"/>
              <a:t> the cost </a:t>
            </a:r>
            <a:r>
              <a:rPr lang="it-IT" dirty="0" err="1"/>
              <a:t>function</a:t>
            </a:r>
            <a:r>
              <a:rPr lang="it-IT" dirty="0"/>
              <a:t> </a:t>
            </a:r>
            <a:r>
              <a:rPr lang="it-IT" dirty="0" err="1"/>
              <a:t>definition</a:t>
            </a:r>
            <a:r>
              <a:rPr lang="it-IT" dirty="0"/>
              <a:t>? Or the agent </a:t>
            </a:r>
            <a:r>
              <a:rPr lang="it-IT" dirty="0" err="1"/>
              <a:t>parameters</a:t>
            </a:r>
            <a:r>
              <a:rPr lang="it-IT" dirty="0"/>
              <a:t>?</a:t>
            </a:r>
          </a:p>
        </p:txBody>
      </p:sp>
      <p:pic>
        <p:nvPicPr>
          <p:cNvPr id="5" name="Immagine 4">
            <a:extLst>
              <a:ext uri="{FF2B5EF4-FFF2-40B4-BE49-F238E27FC236}">
                <a16:creationId xmlns:a16="http://schemas.microsoft.com/office/drawing/2014/main" id="{4DDFBB93-10AB-76C7-AD59-134ED799C5CD}"/>
              </a:ext>
            </a:extLst>
          </p:cNvPr>
          <p:cNvPicPr>
            <a:picLocks noChangeAspect="1"/>
          </p:cNvPicPr>
          <p:nvPr/>
        </p:nvPicPr>
        <p:blipFill>
          <a:blip r:embed="rId2"/>
          <a:stretch>
            <a:fillRect/>
          </a:stretch>
        </p:blipFill>
        <p:spPr>
          <a:xfrm>
            <a:off x="8073639" y="121431"/>
            <a:ext cx="3623413" cy="3495828"/>
          </a:xfrm>
          <a:prstGeom prst="rect">
            <a:avLst/>
          </a:prstGeom>
        </p:spPr>
      </p:pic>
      <p:pic>
        <p:nvPicPr>
          <p:cNvPr id="8" name="Immagine 7" descr="Immagine che contiene testo, schermata, diagramma, linea&#10;&#10;Il contenuto generato dall'IA potrebbe non essere corretto.">
            <a:extLst>
              <a:ext uri="{FF2B5EF4-FFF2-40B4-BE49-F238E27FC236}">
                <a16:creationId xmlns:a16="http://schemas.microsoft.com/office/drawing/2014/main" id="{7B87D59F-152A-7013-6363-727D83FEA57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34923" y="3751640"/>
            <a:ext cx="5214478" cy="2853091"/>
          </a:xfrm>
          <a:prstGeom prst="rect">
            <a:avLst/>
          </a:prstGeom>
        </p:spPr>
      </p:pic>
      <p:pic>
        <p:nvPicPr>
          <p:cNvPr id="10" name="Immagine 9">
            <a:extLst>
              <a:ext uri="{FF2B5EF4-FFF2-40B4-BE49-F238E27FC236}">
                <a16:creationId xmlns:a16="http://schemas.microsoft.com/office/drawing/2014/main" id="{A84F708B-D05D-4D1F-0C28-C33B926CF41C}"/>
              </a:ext>
            </a:extLst>
          </p:cNvPr>
          <p:cNvPicPr>
            <a:picLocks noChangeAspect="1"/>
          </p:cNvPicPr>
          <p:nvPr/>
        </p:nvPicPr>
        <p:blipFill>
          <a:blip r:embed="rId4"/>
          <a:stretch>
            <a:fillRect/>
          </a:stretch>
        </p:blipFill>
        <p:spPr>
          <a:xfrm>
            <a:off x="8149839" y="3751640"/>
            <a:ext cx="3623413" cy="2848527"/>
          </a:xfrm>
          <a:prstGeom prst="rect">
            <a:avLst/>
          </a:prstGeom>
        </p:spPr>
      </p:pic>
    </p:spTree>
    <p:extLst>
      <p:ext uri="{BB962C8B-B14F-4D97-AF65-F5344CB8AC3E}">
        <p14:creationId xmlns:p14="http://schemas.microsoft.com/office/powerpoint/2010/main" val="19587430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4AA08B5-F048-99AE-4C39-A8F6116CAC78}"/>
              </a:ext>
            </a:extLst>
          </p:cNvPr>
          <p:cNvSpPr>
            <a:spLocks noGrp="1"/>
          </p:cNvSpPr>
          <p:nvPr>
            <p:ph type="title"/>
          </p:nvPr>
        </p:nvSpPr>
        <p:spPr/>
        <p:txBody>
          <a:bodyPr/>
          <a:lstStyle/>
          <a:p>
            <a:r>
              <a:rPr lang="it-IT"/>
              <a:t>02.10.2025</a:t>
            </a:r>
            <a:endParaRPr lang="it-IT" dirty="0"/>
          </a:p>
        </p:txBody>
      </p:sp>
      <p:sp>
        <p:nvSpPr>
          <p:cNvPr id="3" name="Segnaposto contenuto 2">
            <a:extLst>
              <a:ext uri="{FF2B5EF4-FFF2-40B4-BE49-F238E27FC236}">
                <a16:creationId xmlns:a16="http://schemas.microsoft.com/office/drawing/2014/main" id="{A085208B-ECB6-FD95-8CBD-257A69B863D3}"/>
              </a:ext>
            </a:extLst>
          </p:cNvPr>
          <p:cNvSpPr>
            <a:spLocks noGrp="1"/>
          </p:cNvSpPr>
          <p:nvPr>
            <p:ph idx="1"/>
          </p:nvPr>
        </p:nvSpPr>
        <p:spPr>
          <a:xfrm>
            <a:off x="838200" y="1825625"/>
            <a:ext cx="10515600" cy="1441887"/>
          </a:xfrm>
        </p:spPr>
        <p:txBody>
          <a:bodyPr/>
          <a:lstStyle/>
          <a:p>
            <a:r>
              <a:rPr lang="it-IT"/>
              <a:t>GWO has been also bugfixed and executed. RL is performing better! Now it’s time to make it performing even better</a:t>
            </a:r>
          </a:p>
          <a:p>
            <a:r>
              <a:rPr lang="it-IT"/>
              <a:t>GWO Results:</a:t>
            </a:r>
            <a:endParaRPr lang="it-IT" dirty="0"/>
          </a:p>
        </p:txBody>
      </p:sp>
      <p:pic>
        <p:nvPicPr>
          <p:cNvPr id="5" name="Immagine 4">
            <a:extLst>
              <a:ext uri="{FF2B5EF4-FFF2-40B4-BE49-F238E27FC236}">
                <a16:creationId xmlns:a16="http://schemas.microsoft.com/office/drawing/2014/main" id="{A82705D7-5E2D-E321-23B4-296902DC485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3544375"/>
            <a:ext cx="5031539" cy="2746073"/>
          </a:xfrm>
          <a:prstGeom prst="rect">
            <a:avLst/>
          </a:prstGeom>
        </p:spPr>
      </p:pic>
      <p:pic>
        <p:nvPicPr>
          <p:cNvPr id="7" name="Immagine 6">
            <a:extLst>
              <a:ext uri="{FF2B5EF4-FFF2-40B4-BE49-F238E27FC236}">
                <a16:creationId xmlns:a16="http://schemas.microsoft.com/office/drawing/2014/main" id="{5FDC3141-454E-6EA4-EB8A-1B60BBCA5681}"/>
              </a:ext>
            </a:extLst>
          </p:cNvPr>
          <p:cNvPicPr>
            <a:picLocks noChangeAspect="1"/>
          </p:cNvPicPr>
          <p:nvPr/>
        </p:nvPicPr>
        <p:blipFill>
          <a:blip r:embed="rId3"/>
          <a:stretch>
            <a:fillRect/>
          </a:stretch>
        </p:blipFill>
        <p:spPr>
          <a:xfrm>
            <a:off x="6288741" y="3429000"/>
            <a:ext cx="3063534" cy="2868582"/>
          </a:xfrm>
          <a:prstGeom prst="rect">
            <a:avLst/>
          </a:prstGeom>
        </p:spPr>
      </p:pic>
    </p:spTree>
    <p:extLst>
      <p:ext uri="{BB962C8B-B14F-4D97-AF65-F5344CB8AC3E}">
        <p14:creationId xmlns:p14="http://schemas.microsoft.com/office/powerpoint/2010/main" val="24674246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3F0375E-A1F6-E754-F855-D62704A70696}"/>
              </a:ext>
            </a:extLst>
          </p:cNvPr>
          <p:cNvSpPr>
            <a:spLocks noGrp="1"/>
          </p:cNvSpPr>
          <p:nvPr>
            <p:ph type="title"/>
          </p:nvPr>
        </p:nvSpPr>
        <p:spPr/>
        <p:txBody>
          <a:bodyPr/>
          <a:lstStyle/>
          <a:p>
            <a:r>
              <a:rPr lang="it-IT" dirty="0"/>
              <a:t>06.10.2025</a:t>
            </a:r>
          </a:p>
        </p:txBody>
      </p:sp>
      <p:sp>
        <p:nvSpPr>
          <p:cNvPr id="3" name="Segnaposto contenuto 2">
            <a:extLst>
              <a:ext uri="{FF2B5EF4-FFF2-40B4-BE49-F238E27FC236}">
                <a16:creationId xmlns:a16="http://schemas.microsoft.com/office/drawing/2014/main" id="{DCF485A5-CEB2-2CA1-C80B-340E18CCE878}"/>
              </a:ext>
            </a:extLst>
          </p:cNvPr>
          <p:cNvSpPr>
            <a:spLocks noGrp="1"/>
          </p:cNvSpPr>
          <p:nvPr>
            <p:ph idx="1"/>
          </p:nvPr>
        </p:nvSpPr>
        <p:spPr/>
        <p:txBody>
          <a:bodyPr/>
          <a:lstStyle/>
          <a:p>
            <a:r>
              <a:rPr lang="it-IT" dirty="0" err="1"/>
              <a:t>Another</a:t>
            </a:r>
            <a:r>
              <a:rPr lang="it-IT" dirty="0"/>
              <a:t> </a:t>
            </a:r>
            <a:r>
              <a:rPr lang="it-IT" dirty="0" err="1"/>
              <a:t>doubt</a:t>
            </a:r>
            <a:r>
              <a:rPr lang="it-IT" dirty="0"/>
              <a:t>. </a:t>
            </a:r>
            <a:r>
              <a:rPr lang="it-IT" dirty="0" err="1"/>
              <a:t>Should</a:t>
            </a:r>
            <a:r>
              <a:rPr lang="it-IT" dirty="0"/>
              <a:t> I include </a:t>
            </a:r>
            <a:r>
              <a:rPr lang="it-IT" dirty="0" err="1"/>
              <a:t>distance</a:t>
            </a:r>
            <a:r>
              <a:rPr lang="it-IT" dirty="0"/>
              <a:t> from </a:t>
            </a:r>
            <a:r>
              <a:rPr lang="it-IT" dirty="0" err="1"/>
              <a:t>final</a:t>
            </a:r>
            <a:r>
              <a:rPr lang="it-IT" dirty="0"/>
              <a:t> target to the RL </a:t>
            </a:r>
            <a:r>
              <a:rPr lang="it-IT" dirty="0" err="1"/>
              <a:t>reward</a:t>
            </a:r>
            <a:r>
              <a:rPr lang="it-IT" dirty="0"/>
              <a:t>? </a:t>
            </a:r>
            <a:r>
              <a:rPr lang="it-IT" dirty="0" err="1"/>
              <a:t>It’s</a:t>
            </a:r>
            <a:r>
              <a:rPr lang="it-IT" dirty="0"/>
              <a:t> </a:t>
            </a:r>
            <a:r>
              <a:rPr lang="it-IT" dirty="0" err="1"/>
              <a:t>probably</a:t>
            </a:r>
            <a:r>
              <a:rPr lang="it-IT" dirty="0"/>
              <a:t> </a:t>
            </a:r>
            <a:r>
              <a:rPr lang="it-IT" dirty="0" err="1"/>
              <a:t>strictly</a:t>
            </a:r>
            <a:r>
              <a:rPr lang="it-IT" dirty="0"/>
              <a:t> </a:t>
            </a:r>
            <a:r>
              <a:rPr lang="it-IT" dirty="0" err="1"/>
              <a:t>not</a:t>
            </a:r>
            <a:r>
              <a:rPr lang="it-IT" dirty="0"/>
              <a:t> </a:t>
            </a:r>
            <a:r>
              <a:rPr lang="it-IT" dirty="0" err="1"/>
              <a:t>necessary</a:t>
            </a:r>
            <a:r>
              <a:rPr lang="it-IT" dirty="0"/>
              <a:t>, </a:t>
            </a:r>
            <a:r>
              <a:rPr lang="it-IT" dirty="0" err="1"/>
              <a:t>but</a:t>
            </a:r>
            <a:r>
              <a:rPr lang="it-IT" dirty="0"/>
              <a:t> </a:t>
            </a:r>
            <a:r>
              <a:rPr lang="it-IT" dirty="0" err="1"/>
              <a:t>should</a:t>
            </a:r>
            <a:r>
              <a:rPr lang="it-IT" dirty="0"/>
              <a:t> be </a:t>
            </a:r>
            <a:r>
              <a:rPr lang="it-IT" dirty="0" err="1"/>
              <a:t>worth</a:t>
            </a:r>
            <a:r>
              <a:rPr lang="it-IT" dirty="0"/>
              <a:t> </a:t>
            </a:r>
            <a:r>
              <a:rPr lang="it-IT" dirty="0" err="1"/>
              <a:t>it</a:t>
            </a:r>
            <a:r>
              <a:rPr lang="it-IT" dirty="0"/>
              <a:t> to check </a:t>
            </a:r>
            <a:r>
              <a:rPr lang="it-IT" dirty="0" err="1"/>
              <a:t>if</a:t>
            </a:r>
            <a:r>
              <a:rPr lang="it-IT" dirty="0"/>
              <a:t> </a:t>
            </a:r>
            <a:r>
              <a:rPr lang="it-IT" dirty="0" err="1"/>
              <a:t>it</a:t>
            </a:r>
            <a:r>
              <a:rPr lang="it-IT" dirty="0"/>
              <a:t> </a:t>
            </a:r>
            <a:r>
              <a:rPr lang="it-IT" dirty="0" err="1"/>
              <a:t>could</a:t>
            </a:r>
            <a:r>
              <a:rPr lang="it-IT" dirty="0"/>
              <a:t> </a:t>
            </a:r>
            <a:r>
              <a:rPr lang="it-IT" dirty="0" err="1"/>
              <a:t>improve</a:t>
            </a:r>
            <a:r>
              <a:rPr lang="it-IT" dirty="0"/>
              <a:t> </a:t>
            </a:r>
            <a:r>
              <a:rPr lang="it-IT" dirty="0" err="1"/>
              <a:t>convergence</a:t>
            </a:r>
            <a:r>
              <a:rPr lang="it-IT" dirty="0"/>
              <a:t>? </a:t>
            </a:r>
            <a:r>
              <a:rPr lang="it-IT" dirty="0" err="1"/>
              <a:t>Probably</a:t>
            </a:r>
            <a:r>
              <a:rPr lang="it-IT" dirty="0"/>
              <a:t> </a:t>
            </a:r>
            <a:r>
              <a:rPr lang="it-IT" dirty="0" err="1"/>
              <a:t>it</a:t>
            </a:r>
            <a:r>
              <a:rPr lang="it-IT" dirty="0"/>
              <a:t> </a:t>
            </a:r>
            <a:r>
              <a:rPr lang="it-IT" dirty="0" err="1"/>
              <a:t>would</a:t>
            </a:r>
            <a:r>
              <a:rPr lang="it-IT" dirty="0"/>
              <a:t> be good for </a:t>
            </a:r>
            <a:r>
              <a:rPr lang="it-IT" dirty="0" err="1"/>
              <a:t>generalization</a:t>
            </a:r>
            <a:r>
              <a:rPr lang="it-IT" dirty="0"/>
              <a:t> (</a:t>
            </a:r>
            <a:r>
              <a:rPr lang="it-IT" dirty="0" err="1"/>
              <a:t>that</a:t>
            </a:r>
            <a:r>
              <a:rPr lang="it-IT" dirty="0"/>
              <a:t> </a:t>
            </a:r>
            <a:r>
              <a:rPr lang="it-IT" dirty="0" err="1"/>
              <a:t>anyway</a:t>
            </a:r>
            <a:r>
              <a:rPr lang="it-IT" dirty="0"/>
              <a:t> </a:t>
            </a:r>
            <a:r>
              <a:rPr lang="it-IT" dirty="0" err="1"/>
              <a:t>cannot</a:t>
            </a:r>
            <a:r>
              <a:rPr lang="it-IT" dirty="0"/>
              <a:t> be </a:t>
            </a:r>
            <a:r>
              <a:rPr lang="it-IT" dirty="0" err="1"/>
              <a:t>accomplished</a:t>
            </a:r>
            <a:r>
              <a:rPr lang="it-IT" dirty="0"/>
              <a:t> in </a:t>
            </a:r>
            <a:r>
              <a:rPr lang="it-IT" dirty="0" err="1"/>
              <a:t>this</a:t>
            </a:r>
            <a:r>
              <a:rPr lang="it-IT" dirty="0"/>
              <a:t> </a:t>
            </a:r>
            <a:r>
              <a:rPr lang="it-IT" dirty="0" err="1"/>
              <a:t>context</a:t>
            </a:r>
            <a:r>
              <a:rPr lang="it-IT"/>
              <a:t>).</a:t>
            </a:r>
            <a:endParaRPr lang="it-IT" dirty="0"/>
          </a:p>
        </p:txBody>
      </p:sp>
    </p:spTree>
    <p:extLst>
      <p:ext uri="{BB962C8B-B14F-4D97-AF65-F5344CB8AC3E}">
        <p14:creationId xmlns:p14="http://schemas.microsoft.com/office/powerpoint/2010/main" val="38665350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D6A34C9-C5CC-7329-B5F8-42A9BBC4DD6E}"/>
              </a:ext>
            </a:extLst>
          </p:cNvPr>
          <p:cNvSpPr>
            <a:spLocks noGrp="1"/>
          </p:cNvSpPr>
          <p:nvPr>
            <p:ph type="title"/>
          </p:nvPr>
        </p:nvSpPr>
        <p:spPr/>
        <p:txBody>
          <a:bodyPr/>
          <a:lstStyle/>
          <a:p>
            <a:r>
              <a:rPr lang="it-IT" dirty="0"/>
              <a:t>07.10.2025</a:t>
            </a:r>
          </a:p>
        </p:txBody>
      </p:sp>
      <p:sp>
        <p:nvSpPr>
          <p:cNvPr id="3" name="Segnaposto contenuto 2">
            <a:extLst>
              <a:ext uri="{FF2B5EF4-FFF2-40B4-BE49-F238E27FC236}">
                <a16:creationId xmlns:a16="http://schemas.microsoft.com/office/drawing/2014/main" id="{B18B4973-78BB-271D-9BBB-8A38F1AEAC24}"/>
              </a:ext>
            </a:extLst>
          </p:cNvPr>
          <p:cNvSpPr>
            <a:spLocks noGrp="1"/>
          </p:cNvSpPr>
          <p:nvPr>
            <p:ph idx="1"/>
          </p:nvPr>
        </p:nvSpPr>
        <p:spPr/>
        <p:txBody>
          <a:bodyPr/>
          <a:lstStyle/>
          <a:p>
            <a:r>
              <a:rPr lang="it-IT" dirty="0"/>
              <a:t>Some </a:t>
            </a:r>
            <a:r>
              <a:rPr lang="it-IT" dirty="0" err="1"/>
              <a:t>considerations</a:t>
            </a:r>
            <a:r>
              <a:rPr lang="it-IT" dirty="0"/>
              <a:t> </a:t>
            </a:r>
            <a:r>
              <a:rPr lang="it-IT" dirty="0" err="1"/>
              <a:t>about</a:t>
            </a:r>
            <a:r>
              <a:rPr lang="it-IT" dirty="0"/>
              <a:t> </a:t>
            </a:r>
            <a:r>
              <a:rPr lang="it-IT" dirty="0" err="1"/>
              <a:t>hyperparameter</a:t>
            </a:r>
            <a:r>
              <a:rPr lang="it-IT" dirty="0"/>
              <a:t> tuning:</a:t>
            </a:r>
          </a:p>
          <a:p>
            <a:pPr lvl="1"/>
            <a:r>
              <a:rPr lang="it-IT" dirty="0" err="1"/>
              <a:t>You</a:t>
            </a:r>
            <a:r>
              <a:rPr lang="it-IT" dirty="0"/>
              <a:t> </a:t>
            </a:r>
            <a:r>
              <a:rPr lang="it-IT" dirty="0" err="1"/>
              <a:t>cannot</a:t>
            </a:r>
            <a:r>
              <a:rPr lang="it-IT" dirty="0"/>
              <a:t> trust </a:t>
            </a:r>
            <a:r>
              <a:rPr lang="it-IT" dirty="0" err="1"/>
              <a:t>initial</a:t>
            </a:r>
            <a:r>
              <a:rPr lang="it-IT" dirty="0"/>
              <a:t> </a:t>
            </a:r>
            <a:r>
              <a:rPr lang="it-IT" dirty="0" err="1"/>
              <a:t>curves</a:t>
            </a:r>
            <a:r>
              <a:rPr lang="it-IT" dirty="0"/>
              <a:t> </a:t>
            </a:r>
            <a:r>
              <a:rPr lang="it-IT" dirty="0" err="1"/>
              <a:t>because</a:t>
            </a:r>
            <a:r>
              <a:rPr lang="it-IT" dirty="0"/>
              <a:t> </a:t>
            </a:r>
            <a:r>
              <a:rPr lang="it-IT" dirty="0" err="1"/>
              <a:t>it</a:t>
            </a:r>
            <a:r>
              <a:rPr lang="it-IT" dirty="0"/>
              <a:t> </a:t>
            </a:r>
            <a:r>
              <a:rPr lang="it-IT" dirty="0" err="1"/>
              <a:t>cannot</a:t>
            </a:r>
            <a:r>
              <a:rPr lang="it-IT" dirty="0"/>
              <a:t> </a:t>
            </a:r>
            <a:r>
              <a:rPr lang="it-IT" dirty="0" err="1"/>
              <a:t>say</a:t>
            </a:r>
            <a:r>
              <a:rPr lang="it-IT" dirty="0"/>
              <a:t> </a:t>
            </a:r>
            <a:r>
              <a:rPr lang="it-IT" dirty="0" err="1"/>
              <a:t>if</a:t>
            </a:r>
            <a:r>
              <a:rPr lang="it-IT" dirty="0"/>
              <a:t> the </a:t>
            </a:r>
            <a:r>
              <a:rPr lang="it-IT" dirty="0" err="1"/>
              <a:t>optimization</a:t>
            </a:r>
            <a:r>
              <a:rPr lang="it-IT" dirty="0"/>
              <a:t> </a:t>
            </a:r>
            <a:r>
              <a:rPr lang="it-IT" dirty="0" err="1"/>
              <a:t>will</a:t>
            </a:r>
            <a:r>
              <a:rPr lang="it-IT" dirty="0"/>
              <a:t> </a:t>
            </a:r>
            <a:r>
              <a:rPr lang="it-IT" dirty="0" err="1"/>
              <a:t>eventually</a:t>
            </a:r>
            <a:r>
              <a:rPr lang="it-IT" dirty="0"/>
              <a:t> drop </a:t>
            </a:r>
            <a:r>
              <a:rPr lang="it-IT" dirty="0" err="1"/>
              <a:t>later</a:t>
            </a:r>
            <a:r>
              <a:rPr lang="it-IT" dirty="0"/>
              <a:t>.</a:t>
            </a:r>
          </a:p>
          <a:p>
            <a:pPr lvl="1"/>
            <a:r>
              <a:rPr lang="it-IT" dirty="0" err="1"/>
              <a:t>It’s</a:t>
            </a:r>
            <a:r>
              <a:rPr lang="it-IT" dirty="0"/>
              <a:t> </a:t>
            </a:r>
            <a:r>
              <a:rPr lang="it-IT" dirty="0" err="1"/>
              <a:t>important</a:t>
            </a:r>
            <a:r>
              <a:rPr lang="it-IT" dirty="0"/>
              <a:t> to </a:t>
            </a:r>
            <a:r>
              <a:rPr lang="it-IT" dirty="0" err="1"/>
              <a:t>measure</a:t>
            </a:r>
            <a:r>
              <a:rPr lang="it-IT" dirty="0"/>
              <a:t> standard </a:t>
            </a:r>
            <a:r>
              <a:rPr lang="it-IT" dirty="0" err="1"/>
              <a:t>deviation</a:t>
            </a:r>
            <a:r>
              <a:rPr lang="it-IT" dirty="0"/>
              <a:t> with </a:t>
            </a:r>
            <a:r>
              <a:rPr lang="it-IT" dirty="0" err="1"/>
              <a:t>seeds</a:t>
            </a:r>
            <a:r>
              <a:rPr lang="it-IT" dirty="0"/>
              <a:t> with a </a:t>
            </a:r>
            <a:r>
              <a:rPr lang="it-IT" dirty="0" err="1"/>
              <a:t>certain</a:t>
            </a:r>
            <a:r>
              <a:rPr lang="it-IT" dirty="0"/>
              <a:t> </a:t>
            </a:r>
            <a:r>
              <a:rPr lang="it-IT" dirty="0" err="1"/>
              <a:t>configuration</a:t>
            </a:r>
            <a:r>
              <a:rPr lang="it-IT" dirty="0"/>
              <a:t> </a:t>
            </a:r>
            <a:r>
              <a:rPr lang="it-IT" dirty="0" err="1"/>
              <a:t>is</a:t>
            </a:r>
            <a:r>
              <a:rPr lang="it-IT" dirty="0"/>
              <a:t> </a:t>
            </a:r>
            <a:r>
              <a:rPr lang="it-IT" dirty="0" err="1"/>
              <a:t>chosen</a:t>
            </a:r>
            <a:r>
              <a:rPr lang="it-IT" dirty="0"/>
              <a:t> (some </a:t>
            </a:r>
            <a:r>
              <a:rPr lang="it-IT" dirty="0" err="1"/>
              <a:t>configurations</a:t>
            </a:r>
            <a:r>
              <a:rPr lang="it-IT" dirty="0"/>
              <a:t> can generate </a:t>
            </a:r>
            <a:r>
              <a:rPr lang="it-IT" dirty="0" err="1"/>
              <a:t>instable</a:t>
            </a:r>
            <a:r>
              <a:rPr lang="it-IT" dirty="0"/>
              <a:t> models or </a:t>
            </a:r>
            <a:r>
              <a:rPr lang="it-IT" dirty="0" err="1"/>
              <a:t>overfitted</a:t>
            </a:r>
            <a:r>
              <a:rPr lang="it-IT" dirty="0"/>
              <a:t> on a </a:t>
            </a:r>
            <a:r>
              <a:rPr lang="it-IT" dirty="0" err="1"/>
              <a:t>seed</a:t>
            </a:r>
            <a:r>
              <a:rPr lang="it-IT" dirty="0"/>
              <a:t>)</a:t>
            </a:r>
          </a:p>
          <a:p>
            <a:pPr lvl="1"/>
            <a:r>
              <a:rPr lang="it-IT" dirty="0"/>
              <a:t>Focus on </a:t>
            </a:r>
            <a:r>
              <a:rPr lang="it-IT" dirty="0" err="1"/>
              <a:t>hyperparameters</a:t>
            </a:r>
            <a:r>
              <a:rPr lang="it-IT" dirty="0"/>
              <a:t> </a:t>
            </a:r>
            <a:r>
              <a:rPr lang="it-IT" dirty="0" err="1"/>
              <a:t>that</a:t>
            </a:r>
            <a:r>
              <a:rPr lang="it-IT" dirty="0"/>
              <a:t> </a:t>
            </a:r>
            <a:r>
              <a:rPr lang="it-IT" dirty="0" err="1"/>
              <a:t>have</a:t>
            </a:r>
            <a:r>
              <a:rPr lang="it-IT" dirty="0"/>
              <a:t> the </a:t>
            </a:r>
            <a:r>
              <a:rPr lang="it-IT" dirty="0" err="1"/>
              <a:t>strongest</a:t>
            </a:r>
            <a:r>
              <a:rPr lang="it-IT" dirty="0"/>
              <a:t> impact</a:t>
            </a:r>
          </a:p>
          <a:p>
            <a:pPr lvl="1"/>
            <a:r>
              <a:rPr lang="it-IT" dirty="0"/>
              <a:t>Use Area Under the Curve (AUC) </a:t>
            </a:r>
            <a:r>
              <a:rPr lang="it-IT" dirty="0" err="1"/>
              <a:t>that</a:t>
            </a:r>
            <a:r>
              <a:rPr lang="it-IT" dirty="0"/>
              <a:t> </a:t>
            </a:r>
            <a:r>
              <a:rPr lang="it-IT" dirty="0" err="1"/>
              <a:t>captures</a:t>
            </a:r>
            <a:r>
              <a:rPr lang="it-IT" dirty="0"/>
              <a:t> </a:t>
            </a:r>
            <a:r>
              <a:rPr lang="it-IT" dirty="0" err="1"/>
              <a:t>both</a:t>
            </a:r>
            <a:r>
              <a:rPr lang="it-IT" dirty="0"/>
              <a:t> learning speed and best cost. </a:t>
            </a:r>
            <a:r>
              <a:rPr lang="it-IT" dirty="0" err="1"/>
              <a:t>It</a:t>
            </a:r>
            <a:r>
              <a:rPr lang="it-IT" dirty="0"/>
              <a:t> can be </a:t>
            </a:r>
            <a:r>
              <a:rPr lang="it-IT" dirty="0" err="1"/>
              <a:t>normalized</a:t>
            </a:r>
            <a:r>
              <a:rPr lang="it-IT" dirty="0"/>
              <a:t> by the duration to </a:t>
            </a:r>
            <a:r>
              <a:rPr lang="it-IT" dirty="0" err="1"/>
              <a:t>get</a:t>
            </a:r>
            <a:r>
              <a:rPr lang="it-IT" dirty="0"/>
              <a:t> the </a:t>
            </a:r>
            <a:r>
              <a:rPr lang="it-IT" dirty="0" err="1"/>
              <a:t>average</a:t>
            </a:r>
            <a:r>
              <a:rPr lang="it-IT" dirty="0"/>
              <a:t> over time.</a:t>
            </a:r>
          </a:p>
          <a:p>
            <a:r>
              <a:rPr lang="it-IT" dirty="0"/>
              <a:t>Source: </a:t>
            </a:r>
            <a:r>
              <a:rPr lang="it-IT" dirty="0">
                <a:hlinkClick r:id="rId2"/>
              </a:rPr>
              <a:t>https://proceedings.mlr.press/v202/eimer23a</a:t>
            </a:r>
            <a:r>
              <a:rPr lang="it-IT" dirty="0"/>
              <a:t> </a:t>
            </a:r>
          </a:p>
        </p:txBody>
      </p:sp>
    </p:spTree>
    <p:extLst>
      <p:ext uri="{BB962C8B-B14F-4D97-AF65-F5344CB8AC3E}">
        <p14:creationId xmlns:p14="http://schemas.microsoft.com/office/powerpoint/2010/main" val="31232771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A21DE46-9E1B-22C3-0D3D-3E745EA320A3}"/>
              </a:ext>
            </a:extLst>
          </p:cNvPr>
          <p:cNvSpPr>
            <a:spLocks noGrp="1"/>
          </p:cNvSpPr>
          <p:nvPr>
            <p:ph type="title"/>
          </p:nvPr>
        </p:nvSpPr>
        <p:spPr/>
        <p:txBody>
          <a:bodyPr/>
          <a:lstStyle/>
          <a:p>
            <a:r>
              <a:rPr lang="it-IT" dirty="0"/>
              <a:t>28.10.2025</a:t>
            </a:r>
          </a:p>
        </p:txBody>
      </p:sp>
      <p:sp>
        <p:nvSpPr>
          <p:cNvPr id="3" name="Segnaposto contenuto 2">
            <a:extLst>
              <a:ext uri="{FF2B5EF4-FFF2-40B4-BE49-F238E27FC236}">
                <a16:creationId xmlns:a16="http://schemas.microsoft.com/office/drawing/2014/main" id="{5FD92542-A843-9432-DB56-BE5A5D7C69E6}"/>
              </a:ext>
            </a:extLst>
          </p:cNvPr>
          <p:cNvSpPr>
            <a:spLocks noGrp="1"/>
          </p:cNvSpPr>
          <p:nvPr>
            <p:ph idx="1"/>
          </p:nvPr>
        </p:nvSpPr>
        <p:spPr/>
        <p:txBody>
          <a:bodyPr>
            <a:normAutofit fontScale="85000" lnSpcReduction="20000"/>
          </a:bodyPr>
          <a:lstStyle/>
          <a:p>
            <a:r>
              <a:rPr lang="en-US" dirty="0"/>
              <a:t>I've noticed a major issue. I instructed the agent to either search for the maximum number of points or implement a 'stop action' to stop earlier. The problem is that the agent is forced to choose from the initial point selected, which is calculated based on the reference point on the straight line from A to B. This is not ideal, as the agent should be able to select a finite number of points (less than </a:t>
            </a:r>
            <a:r>
              <a:rPr lang="en-US" dirty="0" err="1"/>
              <a:t>n_max_point</a:t>
            </a:r>
            <a:r>
              <a:rPr lang="en-US" dirty="0"/>
              <a:t>) which are, still in sequence, but randomly chosen from the available ones. That means, rather than creating a 'stop action', the agent should choose to skip a point instead and continue the sequence. This way, it can continue to select a finite number of points, but still fewer than </a:t>
            </a:r>
            <a:r>
              <a:rPr lang="en-US" dirty="0" err="1"/>
              <a:t>n_max_point</a:t>
            </a:r>
            <a:r>
              <a:rPr lang="en-US" dirty="0"/>
              <a:t>, without being forced to select only a subset of the initial ones. The result should be that the agent can choose any of the available points, in order, but being able to skip some. The base action is now skip all points and leave the last one. So the </a:t>
            </a:r>
            <a:r>
              <a:rPr lang="en-US" dirty="0" err="1"/>
              <a:t>agend</a:t>
            </a:r>
            <a:r>
              <a:rPr lang="en-US" dirty="0"/>
              <a:t> should start choosing in order the available points, being able to skip some of them in the sequence, and then terminating the episode when the available points are exhausted (the </a:t>
            </a:r>
            <a:r>
              <a:rPr lang="en-US" dirty="0" err="1"/>
              <a:t>max_n_points</a:t>
            </a:r>
            <a:r>
              <a:rPr lang="en-US" dirty="0"/>
              <a:t> is reached). </a:t>
            </a:r>
          </a:p>
        </p:txBody>
      </p:sp>
    </p:spTree>
    <p:extLst>
      <p:ext uri="{BB962C8B-B14F-4D97-AF65-F5344CB8AC3E}">
        <p14:creationId xmlns:p14="http://schemas.microsoft.com/office/powerpoint/2010/main" val="23556654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BB08274-AF17-37F3-8837-935C57F7D675}"/>
              </a:ext>
            </a:extLst>
          </p:cNvPr>
          <p:cNvSpPr>
            <a:spLocks noGrp="1"/>
          </p:cNvSpPr>
          <p:nvPr>
            <p:ph type="title"/>
          </p:nvPr>
        </p:nvSpPr>
        <p:spPr/>
        <p:txBody>
          <a:bodyPr/>
          <a:lstStyle/>
          <a:p>
            <a:r>
              <a:rPr lang="it-IT" dirty="0"/>
              <a:t>29.10.2025</a:t>
            </a:r>
          </a:p>
        </p:txBody>
      </p:sp>
      <p:sp>
        <p:nvSpPr>
          <p:cNvPr id="3" name="Segnaposto contenuto 2">
            <a:extLst>
              <a:ext uri="{FF2B5EF4-FFF2-40B4-BE49-F238E27FC236}">
                <a16:creationId xmlns:a16="http://schemas.microsoft.com/office/drawing/2014/main" id="{67F7A0AB-732F-A89D-05DD-AB6BECB6E214}"/>
              </a:ext>
            </a:extLst>
          </p:cNvPr>
          <p:cNvSpPr>
            <a:spLocks noGrp="1"/>
          </p:cNvSpPr>
          <p:nvPr>
            <p:ph idx="1"/>
          </p:nvPr>
        </p:nvSpPr>
        <p:spPr/>
        <p:txBody>
          <a:bodyPr/>
          <a:lstStyle/>
          <a:p>
            <a:r>
              <a:rPr lang="it-IT" dirty="0" err="1"/>
              <a:t>Generalizable</a:t>
            </a:r>
            <a:r>
              <a:rPr lang="it-IT" dirty="0"/>
              <a:t> RL agent:</a:t>
            </a:r>
          </a:p>
          <a:p>
            <a:pPr lvl="1"/>
            <a:r>
              <a:rPr lang="it-IT" dirty="0" err="1"/>
              <a:t>Insert</a:t>
            </a:r>
            <a:r>
              <a:rPr lang="it-IT" dirty="0"/>
              <a:t> a GPS information on the </a:t>
            </a:r>
            <a:r>
              <a:rPr lang="it-IT" dirty="0" err="1"/>
              <a:t>agent’s</a:t>
            </a:r>
            <a:r>
              <a:rPr lang="it-IT" dirty="0"/>
              <a:t> state</a:t>
            </a:r>
          </a:p>
          <a:p>
            <a:pPr lvl="1"/>
            <a:r>
              <a:rPr lang="it-IT" dirty="0"/>
              <a:t>Train the agent in multiple </a:t>
            </a:r>
            <a:r>
              <a:rPr lang="it-IT" dirty="0" err="1"/>
              <a:t>maps</a:t>
            </a:r>
            <a:endParaRPr lang="it-IT" dirty="0"/>
          </a:p>
          <a:p>
            <a:pPr lvl="1"/>
            <a:r>
              <a:rPr lang="it-IT" dirty="0" err="1"/>
              <a:t>Add</a:t>
            </a:r>
            <a:r>
              <a:rPr lang="it-IT" dirty="0"/>
              <a:t> to the </a:t>
            </a:r>
            <a:r>
              <a:rPr lang="it-IT" dirty="0" err="1"/>
              <a:t>agent’s</a:t>
            </a:r>
            <a:r>
              <a:rPr lang="it-IT" dirty="0"/>
              <a:t> state a </a:t>
            </a:r>
            <a:r>
              <a:rPr lang="it-IT" dirty="0" err="1"/>
              <a:t>simplified</a:t>
            </a:r>
            <a:r>
              <a:rPr lang="it-IT" dirty="0"/>
              <a:t> sound model</a:t>
            </a:r>
          </a:p>
          <a:p>
            <a:pPr lvl="1"/>
            <a:r>
              <a:rPr lang="it-IT" dirty="0"/>
              <a:t>Idea for </a:t>
            </a:r>
            <a:r>
              <a:rPr lang="it-IT" dirty="0" err="1"/>
              <a:t>further</a:t>
            </a:r>
            <a:r>
              <a:rPr lang="it-IT" dirty="0"/>
              <a:t> </a:t>
            </a:r>
            <a:r>
              <a:rPr lang="it-IT" dirty="0" err="1"/>
              <a:t>applications</a:t>
            </a:r>
            <a:r>
              <a:rPr lang="it-IT" dirty="0"/>
              <a:t>!</a:t>
            </a:r>
          </a:p>
          <a:p>
            <a:pPr lvl="1"/>
            <a:r>
              <a:rPr lang="it-IT" dirty="0" err="1"/>
              <a:t>Insert</a:t>
            </a:r>
            <a:r>
              <a:rPr lang="it-IT" dirty="0"/>
              <a:t> </a:t>
            </a:r>
            <a:r>
              <a:rPr lang="it-IT" dirty="0" err="1"/>
              <a:t>proximity</a:t>
            </a:r>
            <a:r>
              <a:rPr lang="it-IT" dirty="0"/>
              <a:t> information on the </a:t>
            </a:r>
            <a:r>
              <a:rPr lang="it-IT" dirty="0" err="1"/>
              <a:t>environment</a:t>
            </a:r>
            <a:r>
              <a:rPr lang="it-IT" dirty="0"/>
              <a:t>. </a:t>
            </a:r>
            <a:r>
              <a:rPr lang="it-IT" dirty="0" err="1"/>
              <a:t>This</a:t>
            </a:r>
            <a:r>
              <a:rPr lang="it-IT" dirty="0"/>
              <a:t> </a:t>
            </a:r>
            <a:r>
              <a:rPr lang="it-IT" dirty="0" err="1"/>
              <a:t>could</a:t>
            </a:r>
            <a:r>
              <a:rPr lang="it-IT" dirty="0"/>
              <a:t> </a:t>
            </a:r>
            <a:r>
              <a:rPr lang="it-IT" dirty="0" err="1"/>
              <a:t>also</a:t>
            </a:r>
            <a:r>
              <a:rPr lang="it-IT" dirty="0"/>
              <a:t> </a:t>
            </a:r>
            <a:r>
              <a:rPr lang="it-IT" dirty="0" err="1"/>
              <a:t>teach</a:t>
            </a:r>
            <a:r>
              <a:rPr lang="it-IT" dirty="0"/>
              <a:t> the drone to </a:t>
            </a:r>
            <a:r>
              <a:rPr lang="it-IT" dirty="0" err="1"/>
              <a:t>avoid</a:t>
            </a:r>
            <a:r>
              <a:rPr lang="it-IT" dirty="0"/>
              <a:t> </a:t>
            </a:r>
            <a:r>
              <a:rPr lang="it-IT" dirty="0" err="1"/>
              <a:t>obstacles</a:t>
            </a:r>
            <a:endParaRPr lang="it-IT" dirty="0"/>
          </a:p>
        </p:txBody>
      </p:sp>
    </p:spTree>
    <p:extLst>
      <p:ext uri="{BB962C8B-B14F-4D97-AF65-F5344CB8AC3E}">
        <p14:creationId xmlns:p14="http://schemas.microsoft.com/office/powerpoint/2010/main" val="8475942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7BC7346-26F9-6F13-E8F2-18A3F4F1E3DC}"/>
              </a:ext>
            </a:extLst>
          </p:cNvPr>
          <p:cNvSpPr>
            <a:spLocks noGrp="1"/>
          </p:cNvSpPr>
          <p:nvPr>
            <p:ph type="title"/>
          </p:nvPr>
        </p:nvSpPr>
        <p:spPr/>
        <p:txBody>
          <a:bodyPr/>
          <a:lstStyle/>
          <a:p>
            <a:r>
              <a:rPr lang="it-IT" dirty="0"/>
              <a:t>29.10.2025</a:t>
            </a:r>
          </a:p>
        </p:txBody>
      </p:sp>
      <p:pic>
        <p:nvPicPr>
          <p:cNvPr id="7" name="Immagine 6" descr="Immagine che contiene schermata, diagramma, testo, linea&#10;&#10;Il contenuto generato dall'IA potrebbe non essere corretto.">
            <a:extLst>
              <a:ext uri="{FF2B5EF4-FFF2-40B4-BE49-F238E27FC236}">
                <a16:creationId xmlns:a16="http://schemas.microsoft.com/office/drawing/2014/main" id="{5F6038D1-0025-DEAD-7243-62BB38432A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5513" y="2182944"/>
            <a:ext cx="4751170" cy="3891562"/>
          </a:xfrm>
          <a:prstGeom prst="rect">
            <a:avLst/>
          </a:prstGeom>
        </p:spPr>
      </p:pic>
      <p:pic>
        <p:nvPicPr>
          <p:cNvPr id="9" name="Immagine 8" descr="Immagine che contiene testo, Diagramma, diagramma, schermata&#10;&#10;Il contenuto generato dall'IA potrebbe non essere corretto.">
            <a:extLst>
              <a:ext uri="{FF2B5EF4-FFF2-40B4-BE49-F238E27FC236}">
                <a16:creationId xmlns:a16="http://schemas.microsoft.com/office/drawing/2014/main" id="{49680E01-D644-D35C-BDE3-26BD6FBD04E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77231" y="2022763"/>
            <a:ext cx="6360238" cy="4211925"/>
          </a:xfrm>
          <a:prstGeom prst="rect">
            <a:avLst/>
          </a:prstGeom>
        </p:spPr>
      </p:pic>
      <p:sp>
        <p:nvSpPr>
          <p:cNvPr id="10" name="CasellaDiTesto 9">
            <a:extLst>
              <a:ext uri="{FF2B5EF4-FFF2-40B4-BE49-F238E27FC236}">
                <a16:creationId xmlns:a16="http://schemas.microsoft.com/office/drawing/2014/main" id="{8FC04BE6-075E-10CE-B565-8159D95FE500}"/>
              </a:ext>
            </a:extLst>
          </p:cNvPr>
          <p:cNvSpPr txBox="1"/>
          <p:nvPr/>
        </p:nvSpPr>
        <p:spPr>
          <a:xfrm>
            <a:off x="5024582" y="646545"/>
            <a:ext cx="6114473" cy="646331"/>
          </a:xfrm>
          <a:prstGeom prst="rect">
            <a:avLst/>
          </a:prstGeom>
          <a:noFill/>
        </p:spPr>
        <p:txBody>
          <a:bodyPr wrap="square" rtlCol="0">
            <a:spAutoFit/>
          </a:bodyPr>
          <a:lstStyle/>
          <a:p>
            <a:r>
              <a:rPr lang="it-IT" dirty="0"/>
              <a:t>First </a:t>
            </a:r>
            <a:r>
              <a:rPr lang="it-IT" dirty="0" err="1"/>
              <a:t>results</a:t>
            </a:r>
            <a:r>
              <a:rPr lang="it-IT" dirty="0"/>
              <a:t> with </a:t>
            </a:r>
            <a:r>
              <a:rPr lang="it-IT" dirty="0" err="1"/>
              <a:t>simplified</a:t>
            </a:r>
            <a:r>
              <a:rPr lang="it-IT" dirty="0"/>
              <a:t> </a:t>
            </a:r>
            <a:r>
              <a:rPr lang="it-IT" dirty="0" err="1"/>
              <a:t>trajectory</a:t>
            </a:r>
            <a:r>
              <a:rPr lang="it-IT" dirty="0"/>
              <a:t>.</a:t>
            </a:r>
          </a:p>
          <a:p>
            <a:r>
              <a:rPr lang="it-IT" dirty="0"/>
              <a:t>The agent </a:t>
            </a:r>
            <a:r>
              <a:rPr lang="it-IT" dirty="0" err="1"/>
              <a:t>converged</a:t>
            </a:r>
            <a:r>
              <a:rPr lang="it-IT" dirty="0"/>
              <a:t> in </a:t>
            </a:r>
            <a:r>
              <a:rPr lang="it-IT" dirty="0" err="1"/>
              <a:t>roughly</a:t>
            </a:r>
            <a:r>
              <a:rPr lang="it-IT" dirty="0"/>
              <a:t> 5 minutes</a:t>
            </a:r>
          </a:p>
        </p:txBody>
      </p:sp>
      <p:pic>
        <p:nvPicPr>
          <p:cNvPr id="12" name="Immagine 11" descr="Immagine che contiene testo, schermata, schermo, software&#10;&#10;Il contenuto generato dall'IA potrebbe non essere corretto.">
            <a:extLst>
              <a:ext uri="{FF2B5EF4-FFF2-40B4-BE49-F238E27FC236}">
                <a16:creationId xmlns:a16="http://schemas.microsoft.com/office/drawing/2014/main" id="{CB58714B-DA2B-89CC-CAC3-84EA504436B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540350" y="451108"/>
            <a:ext cx="2130468" cy="1153595"/>
          </a:xfrm>
          <a:prstGeom prst="rect">
            <a:avLst/>
          </a:prstGeom>
        </p:spPr>
      </p:pic>
    </p:spTree>
    <p:extLst>
      <p:ext uri="{BB962C8B-B14F-4D97-AF65-F5344CB8AC3E}">
        <p14:creationId xmlns:p14="http://schemas.microsoft.com/office/powerpoint/2010/main" val="17864142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862CCCB-A340-771B-63C9-40C85C709E87}"/>
              </a:ext>
            </a:extLst>
          </p:cNvPr>
          <p:cNvSpPr>
            <a:spLocks noGrp="1"/>
          </p:cNvSpPr>
          <p:nvPr>
            <p:ph type="title"/>
          </p:nvPr>
        </p:nvSpPr>
        <p:spPr/>
        <p:txBody>
          <a:bodyPr/>
          <a:lstStyle/>
          <a:p>
            <a:r>
              <a:rPr lang="it-IT" dirty="0"/>
              <a:t>29.10.2025</a:t>
            </a:r>
          </a:p>
        </p:txBody>
      </p:sp>
      <p:sp>
        <p:nvSpPr>
          <p:cNvPr id="3" name="Segnaposto contenuto 2">
            <a:extLst>
              <a:ext uri="{FF2B5EF4-FFF2-40B4-BE49-F238E27FC236}">
                <a16:creationId xmlns:a16="http://schemas.microsoft.com/office/drawing/2014/main" id="{3BA8214E-E438-2949-1149-EF3E9FDB313F}"/>
              </a:ext>
            </a:extLst>
          </p:cNvPr>
          <p:cNvSpPr>
            <a:spLocks noGrp="1"/>
          </p:cNvSpPr>
          <p:nvPr>
            <p:ph idx="1"/>
          </p:nvPr>
        </p:nvSpPr>
        <p:spPr/>
        <p:txBody>
          <a:bodyPr>
            <a:normAutofit lnSpcReduction="10000"/>
          </a:bodyPr>
          <a:lstStyle/>
          <a:p>
            <a:r>
              <a:rPr lang="it-IT" dirty="0"/>
              <a:t>Ho paura che col RL stiamo forzando qualcosa a comportarsi diversamente dalla sua natura. Probabilmente il training di RL è più lento e meno efficiente di una discesa lungo il gradiente, o un algoritmo </a:t>
            </a:r>
            <a:r>
              <a:rPr lang="it-IT" dirty="0" err="1"/>
              <a:t>metaeuristico</a:t>
            </a:r>
            <a:r>
              <a:rPr lang="it-IT" dirty="0"/>
              <a:t>. La forza di RL sta nella potenzialità di poter creare un agente in grado di generalizzare, non di </a:t>
            </a:r>
            <a:r>
              <a:rPr lang="it-IT" dirty="0" err="1"/>
              <a:t>overfittare</a:t>
            </a:r>
            <a:r>
              <a:rPr lang="it-IT" dirty="0"/>
              <a:t> un problema specifico per comportarsi come un ottimizzatore.</a:t>
            </a:r>
          </a:p>
          <a:p>
            <a:r>
              <a:rPr lang="it-IT" dirty="0"/>
              <a:t>Ho notato che l’RL ad un certo punto smette di cercare punti, lascia solo quello finale e modifica solo la velocità. Potrebbe essere un problema della penalità per percorso non completato? Probabile.</a:t>
            </a:r>
          </a:p>
          <a:p>
            <a:pPr lvl="1"/>
            <a:r>
              <a:rPr lang="it-IT" dirty="0"/>
              <a:t>Corretto. Vediamo se i risultati cambiano</a:t>
            </a:r>
          </a:p>
        </p:txBody>
      </p:sp>
    </p:spTree>
    <p:extLst>
      <p:ext uri="{BB962C8B-B14F-4D97-AF65-F5344CB8AC3E}">
        <p14:creationId xmlns:p14="http://schemas.microsoft.com/office/powerpoint/2010/main" val="24272780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012A234-ADE7-3E18-871E-F12BE839883C}"/>
              </a:ext>
            </a:extLst>
          </p:cNvPr>
          <p:cNvSpPr>
            <a:spLocks noGrp="1"/>
          </p:cNvSpPr>
          <p:nvPr>
            <p:ph type="title"/>
          </p:nvPr>
        </p:nvSpPr>
        <p:spPr/>
        <p:txBody>
          <a:bodyPr/>
          <a:lstStyle/>
          <a:p>
            <a:r>
              <a:rPr lang="it-IT" dirty="0"/>
              <a:t>29.10.2025</a:t>
            </a:r>
          </a:p>
        </p:txBody>
      </p:sp>
      <p:sp>
        <p:nvSpPr>
          <p:cNvPr id="3" name="Segnaposto contenuto 2">
            <a:extLst>
              <a:ext uri="{FF2B5EF4-FFF2-40B4-BE49-F238E27FC236}">
                <a16:creationId xmlns:a16="http://schemas.microsoft.com/office/drawing/2014/main" id="{EBEED95B-BCC5-5A79-B561-B91E8AC0A271}"/>
              </a:ext>
            </a:extLst>
          </p:cNvPr>
          <p:cNvSpPr>
            <a:spLocks noGrp="1"/>
          </p:cNvSpPr>
          <p:nvPr>
            <p:ph idx="1"/>
          </p:nvPr>
        </p:nvSpPr>
        <p:spPr>
          <a:xfrm>
            <a:off x="838200" y="1825625"/>
            <a:ext cx="4385435" cy="732848"/>
          </a:xfrm>
        </p:spPr>
        <p:txBody>
          <a:bodyPr>
            <a:normAutofit fontScale="92500" lnSpcReduction="20000"/>
          </a:bodyPr>
          <a:lstStyle/>
          <a:p>
            <a:r>
              <a:rPr lang="it-IT" dirty="0" err="1"/>
              <a:t>Apparently</a:t>
            </a:r>
            <a:r>
              <a:rPr lang="it-IT" dirty="0"/>
              <a:t>, fixing the last bug </a:t>
            </a:r>
            <a:r>
              <a:rPr lang="it-IT" dirty="0" err="1"/>
              <a:t>helped</a:t>
            </a:r>
            <a:r>
              <a:rPr lang="it-IT" dirty="0"/>
              <a:t> a </a:t>
            </a:r>
            <a:r>
              <a:rPr lang="it-IT" dirty="0" err="1"/>
              <a:t>lot</a:t>
            </a:r>
            <a:r>
              <a:rPr lang="it-IT" dirty="0"/>
              <a:t>:</a:t>
            </a:r>
          </a:p>
        </p:txBody>
      </p:sp>
      <p:pic>
        <p:nvPicPr>
          <p:cNvPr id="5" name="Immagine 4">
            <a:extLst>
              <a:ext uri="{FF2B5EF4-FFF2-40B4-BE49-F238E27FC236}">
                <a16:creationId xmlns:a16="http://schemas.microsoft.com/office/drawing/2014/main" id="{D48FF819-C7D0-61FA-7AC6-A0AD153A94AF}"/>
              </a:ext>
            </a:extLst>
          </p:cNvPr>
          <p:cNvPicPr>
            <a:picLocks noChangeAspect="1"/>
          </p:cNvPicPr>
          <p:nvPr/>
        </p:nvPicPr>
        <p:blipFill>
          <a:blip r:embed="rId2"/>
          <a:stretch>
            <a:fillRect/>
          </a:stretch>
        </p:blipFill>
        <p:spPr>
          <a:xfrm>
            <a:off x="427611" y="2852996"/>
            <a:ext cx="4796024" cy="3093720"/>
          </a:xfrm>
          <a:prstGeom prst="rect">
            <a:avLst/>
          </a:prstGeom>
        </p:spPr>
      </p:pic>
      <p:pic>
        <p:nvPicPr>
          <p:cNvPr id="7" name="Immagine 6">
            <a:extLst>
              <a:ext uri="{FF2B5EF4-FFF2-40B4-BE49-F238E27FC236}">
                <a16:creationId xmlns:a16="http://schemas.microsoft.com/office/drawing/2014/main" id="{D87FF5CB-BDE0-04AD-0B0F-E6E2A0288096}"/>
              </a:ext>
            </a:extLst>
          </p:cNvPr>
          <p:cNvPicPr>
            <a:picLocks noChangeAspect="1"/>
          </p:cNvPicPr>
          <p:nvPr/>
        </p:nvPicPr>
        <p:blipFill>
          <a:blip r:embed="rId3"/>
          <a:stretch>
            <a:fillRect/>
          </a:stretch>
        </p:blipFill>
        <p:spPr>
          <a:xfrm>
            <a:off x="5223635" y="1348682"/>
            <a:ext cx="6774402" cy="5065971"/>
          </a:xfrm>
          <a:prstGeom prst="rect">
            <a:avLst/>
          </a:prstGeom>
        </p:spPr>
      </p:pic>
    </p:spTree>
    <p:extLst>
      <p:ext uri="{BB962C8B-B14F-4D97-AF65-F5344CB8AC3E}">
        <p14:creationId xmlns:p14="http://schemas.microsoft.com/office/powerpoint/2010/main" val="19507790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002A63D-8665-C429-0861-7CC4A77CF745}"/>
              </a:ext>
            </a:extLst>
          </p:cNvPr>
          <p:cNvSpPr>
            <a:spLocks noGrp="1"/>
          </p:cNvSpPr>
          <p:nvPr>
            <p:ph type="title"/>
          </p:nvPr>
        </p:nvSpPr>
        <p:spPr/>
        <p:txBody>
          <a:bodyPr/>
          <a:lstStyle/>
          <a:p>
            <a:r>
              <a:rPr lang="it-IT" dirty="0"/>
              <a:t>To do for </a:t>
            </a:r>
            <a:r>
              <a:rPr lang="it-IT" dirty="0" err="1"/>
              <a:t>tomorrow</a:t>
            </a:r>
            <a:r>
              <a:rPr lang="it-IT" dirty="0"/>
              <a:t>:</a:t>
            </a:r>
          </a:p>
        </p:txBody>
      </p:sp>
      <p:sp>
        <p:nvSpPr>
          <p:cNvPr id="3" name="Segnaposto contenuto 2">
            <a:extLst>
              <a:ext uri="{FF2B5EF4-FFF2-40B4-BE49-F238E27FC236}">
                <a16:creationId xmlns:a16="http://schemas.microsoft.com/office/drawing/2014/main" id="{193A4653-B86B-38BE-6D79-586FFE3FD930}"/>
              </a:ext>
            </a:extLst>
          </p:cNvPr>
          <p:cNvSpPr>
            <a:spLocks noGrp="1"/>
          </p:cNvSpPr>
          <p:nvPr>
            <p:ph idx="1"/>
          </p:nvPr>
        </p:nvSpPr>
        <p:spPr/>
        <p:txBody>
          <a:bodyPr/>
          <a:lstStyle/>
          <a:p>
            <a:r>
              <a:rPr lang="it-IT" dirty="0"/>
              <a:t>No, </a:t>
            </a:r>
            <a:r>
              <a:rPr lang="it-IT" dirty="0" err="1"/>
              <a:t>probably</a:t>
            </a:r>
            <a:r>
              <a:rPr lang="it-IT" dirty="0"/>
              <a:t> </a:t>
            </a:r>
            <a:r>
              <a:rPr lang="it-IT" dirty="0" err="1"/>
              <a:t>there</a:t>
            </a:r>
            <a:r>
              <a:rPr lang="it-IT" dirty="0"/>
              <a:t> </a:t>
            </a:r>
            <a:r>
              <a:rPr lang="it-IT" dirty="0" err="1"/>
              <a:t>is</a:t>
            </a:r>
            <a:r>
              <a:rPr lang="it-IT" dirty="0"/>
              <a:t> </a:t>
            </a:r>
            <a:r>
              <a:rPr lang="it-IT" dirty="0" err="1"/>
              <a:t>still</a:t>
            </a:r>
            <a:r>
              <a:rPr lang="it-IT" dirty="0"/>
              <a:t> </a:t>
            </a:r>
            <a:r>
              <a:rPr lang="it-IT" dirty="0" err="1"/>
              <a:t>something</a:t>
            </a:r>
            <a:r>
              <a:rPr lang="it-IT" dirty="0"/>
              <a:t> </a:t>
            </a:r>
            <a:r>
              <a:rPr lang="it-IT" dirty="0" err="1"/>
              <a:t>that</a:t>
            </a:r>
            <a:r>
              <a:rPr lang="it-IT" dirty="0"/>
              <a:t> </a:t>
            </a:r>
            <a:r>
              <a:rPr lang="it-IT" dirty="0" err="1"/>
              <a:t>brings</a:t>
            </a:r>
            <a:r>
              <a:rPr lang="it-IT" dirty="0"/>
              <a:t> the agent to eliminate </a:t>
            </a:r>
            <a:r>
              <a:rPr lang="it-IT" dirty="0" err="1"/>
              <a:t>all</a:t>
            </a:r>
            <a:r>
              <a:rPr lang="it-IT" dirty="0"/>
              <a:t> the points. </a:t>
            </a:r>
            <a:r>
              <a:rPr lang="it-IT" dirty="0" err="1"/>
              <a:t>Maybe</a:t>
            </a:r>
            <a:r>
              <a:rPr lang="it-IT" dirty="0"/>
              <a:t> the </a:t>
            </a:r>
            <a:r>
              <a:rPr lang="it-IT" dirty="0" err="1"/>
              <a:t>problem</a:t>
            </a:r>
            <a:r>
              <a:rPr lang="it-IT" dirty="0"/>
              <a:t> in </a:t>
            </a:r>
            <a:r>
              <a:rPr lang="it-IT" dirty="0" err="1"/>
              <a:t>how</a:t>
            </a:r>
            <a:r>
              <a:rPr lang="it-IT" dirty="0"/>
              <a:t> the </a:t>
            </a:r>
            <a:r>
              <a:rPr lang="it-IT" dirty="0" err="1"/>
              <a:t>rewards</a:t>
            </a:r>
            <a:r>
              <a:rPr lang="it-IT" dirty="0"/>
              <a:t> are </a:t>
            </a:r>
            <a:r>
              <a:rPr lang="it-IT" dirty="0" err="1"/>
              <a:t>summed</a:t>
            </a:r>
            <a:r>
              <a:rPr lang="it-IT" dirty="0"/>
              <a:t>, </a:t>
            </a:r>
            <a:r>
              <a:rPr lang="it-IT" dirty="0" err="1"/>
              <a:t>maybe</a:t>
            </a:r>
            <a:r>
              <a:rPr lang="it-IT" dirty="0"/>
              <a:t> the cost </a:t>
            </a:r>
            <a:r>
              <a:rPr lang="it-IT" dirty="0" err="1"/>
              <a:t>function</a:t>
            </a:r>
            <a:r>
              <a:rPr lang="it-IT" dirty="0"/>
              <a:t> </a:t>
            </a:r>
            <a:r>
              <a:rPr lang="it-IT" dirty="0" err="1"/>
              <a:t>doesn’t</a:t>
            </a:r>
            <a:r>
              <a:rPr lang="it-IT" dirty="0"/>
              <a:t> </a:t>
            </a:r>
            <a:r>
              <a:rPr lang="it-IT" dirty="0" err="1"/>
              <a:t>correctly</a:t>
            </a:r>
            <a:r>
              <a:rPr lang="it-IT" dirty="0"/>
              <a:t> reset </a:t>
            </a:r>
            <a:r>
              <a:rPr lang="it-IT" dirty="0" err="1"/>
              <a:t>when</a:t>
            </a:r>
            <a:r>
              <a:rPr lang="it-IT" dirty="0"/>
              <a:t> </a:t>
            </a:r>
            <a:r>
              <a:rPr lang="it-IT" dirty="0" err="1"/>
              <a:t>considering</a:t>
            </a:r>
            <a:r>
              <a:rPr lang="it-IT" dirty="0"/>
              <a:t> </a:t>
            </a:r>
            <a:r>
              <a:rPr lang="it-IT" dirty="0" err="1"/>
              <a:t>another</a:t>
            </a:r>
            <a:r>
              <a:rPr lang="it-IT" dirty="0"/>
              <a:t> step.</a:t>
            </a:r>
          </a:p>
          <a:p>
            <a:pPr lvl="1"/>
            <a:r>
              <a:rPr lang="it-IT" dirty="0" err="1"/>
              <a:t>Probably</a:t>
            </a:r>
            <a:r>
              <a:rPr lang="it-IT" dirty="0"/>
              <a:t> I </a:t>
            </a:r>
            <a:r>
              <a:rPr lang="it-IT" dirty="0" err="1"/>
              <a:t>have</a:t>
            </a:r>
            <a:r>
              <a:rPr lang="it-IT" dirty="0"/>
              <a:t> to reset the </a:t>
            </a:r>
            <a:r>
              <a:rPr lang="it-IT" dirty="0" err="1"/>
              <a:t>simulation</a:t>
            </a:r>
            <a:r>
              <a:rPr lang="it-IT" dirty="0"/>
              <a:t> </a:t>
            </a:r>
            <a:r>
              <a:rPr lang="it-IT" dirty="0" err="1"/>
              <a:t>every</a:t>
            </a:r>
            <a:r>
              <a:rPr lang="it-IT" dirty="0"/>
              <a:t> step, </a:t>
            </a:r>
            <a:r>
              <a:rPr lang="it-IT" dirty="0" err="1"/>
              <a:t>because</a:t>
            </a:r>
            <a:r>
              <a:rPr lang="it-IT" dirty="0"/>
              <a:t> </a:t>
            </a:r>
            <a:r>
              <a:rPr lang="it-IT" dirty="0" err="1"/>
              <a:t>otherways</a:t>
            </a:r>
            <a:r>
              <a:rPr lang="it-IT" dirty="0"/>
              <a:t> the history arrays </a:t>
            </a:r>
            <a:r>
              <a:rPr lang="it-IT" dirty="0" err="1"/>
              <a:t>will</a:t>
            </a:r>
            <a:r>
              <a:rPr lang="it-IT" dirty="0"/>
              <a:t> </a:t>
            </a:r>
            <a:r>
              <a:rPr lang="it-IT" dirty="0" err="1"/>
              <a:t>keep</a:t>
            </a:r>
            <a:r>
              <a:rPr lang="it-IT" dirty="0"/>
              <a:t> </a:t>
            </a:r>
            <a:r>
              <a:rPr lang="it-IT" dirty="0" err="1"/>
              <a:t>accumulating</a:t>
            </a:r>
            <a:r>
              <a:rPr lang="it-IT" dirty="0"/>
              <a:t> history data on </a:t>
            </a:r>
            <a:r>
              <a:rPr lang="it-IT" dirty="0" err="1"/>
              <a:t>old</a:t>
            </a:r>
            <a:r>
              <a:rPr lang="it-IT" dirty="0"/>
              <a:t> steps. Costs are </a:t>
            </a:r>
            <a:r>
              <a:rPr lang="it-IT" dirty="0" err="1"/>
              <a:t>calculated</a:t>
            </a:r>
            <a:r>
              <a:rPr lang="it-IT" dirty="0"/>
              <a:t> </a:t>
            </a:r>
            <a:r>
              <a:rPr lang="it-IT" dirty="0" err="1"/>
              <a:t>based</a:t>
            </a:r>
            <a:r>
              <a:rPr lang="it-IT" dirty="0"/>
              <a:t> on history arrays.</a:t>
            </a:r>
          </a:p>
          <a:p>
            <a:pPr lvl="2"/>
            <a:r>
              <a:rPr lang="it-IT" dirty="0" err="1"/>
              <a:t>Apparently</a:t>
            </a:r>
            <a:r>
              <a:rPr lang="it-IT" dirty="0"/>
              <a:t> </a:t>
            </a:r>
            <a:r>
              <a:rPr lang="it-IT" dirty="0" err="1"/>
              <a:t>everything</a:t>
            </a:r>
            <a:r>
              <a:rPr lang="it-IT" dirty="0"/>
              <a:t> </a:t>
            </a:r>
            <a:r>
              <a:rPr lang="it-IT" dirty="0" err="1"/>
              <a:t>is</a:t>
            </a:r>
            <a:r>
              <a:rPr lang="it-IT" dirty="0"/>
              <a:t> fine with </a:t>
            </a:r>
            <a:r>
              <a:rPr lang="it-IT" dirty="0" err="1"/>
              <a:t>resetting</a:t>
            </a:r>
            <a:r>
              <a:rPr lang="it-IT" dirty="0"/>
              <a:t> arrays. </a:t>
            </a:r>
          </a:p>
          <a:p>
            <a:pPr lvl="1"/>
            <a:r>
              <a:rPr lang="it-IT" dirty="0" err="1"/>
              <a:t>Another</a:t>
            </a:r>
            <a:r>
              <a:rPr lang="it-IT" dirty="0"/>
              <a:t> </a:t>
            </a:r>
            <a:r>
              <a:rPr lang="it-IT" dirty="0" err="1"/>
              <a:t>try</a:t>
            </a:r>
            <a:r>
              <a:rPr lang="it-IT" dirty="0"/>
              <a:t> can be </a:t>
            </a:r>
            <a:r>
              <a:rPr lang="it-IT" dirty="0" err="1"/>
              <a:t>starting</a:t>
            </a:r>
            <a:r>
              <a:rPr lang="it-IT" dirty="0"/>
              <a:t> from printing the </a:t>
            </a:r>
            <a:r>
              <a:rPr lang="it-IT" dirty="0" err="1"/>
              <a:t>values</a:t>
            </a:r>
            <a:r>
              <a:rPr lang="it-IT" dirty="0"/>
              <a:t> of the costs for </a:t>
            </a:r>
            <a:r>
              <a:rPr lang="it-IT" dirty="0" err="1"/>
              <a:t>every</a:t>
            </a:r>
            <a:r>
              <a:rPr lang="it-IT" dirty="0"/>
              <a:t> step and the </a:t>
            </a:r>
            <a:r>
              <a:rPr lang="it-IT" dirty="0" err="1"/>
              <a:t>total</a:t>
            </a:r>
            <a:r>
              <a:rPr lang="it-IT" dirty="0"/>
              <a:t> </a:t>
            </a:r>
            <a:r>
              <a:rPr lang="it-IT" dirty="0" err="1"/>
              <a:t>reward</a:t>
            </a:r>
            <a:r>
              <a:rPr lang="it-IT" dirty="0"/>
              <a:t>, </a:t>
            </a:r>
            <a:r>
              <a:rPr lang="it-IT" dirty="0" err="1"/>
              <a:t>then</a:t>
            </a:r>
            <a:r>
              <a:rPr lang="it-IT"/>
              <a:t> compare.</a:t>
            </a:r>
            <a:endParaRPr lang="it-IT" dirty="0"/>
          </a:p>
        </p:txBody>
      </p:sp>
    </p:spTree>
    <p:extLst>
      <p:ext uri="{BB962C8B-B14F-4D97-AF65-F5344CB8AC3E}">
        <p14:creationId xmlns:p14="http://schemas.microsoft.com/office/powerpoint/2010/main" val="1832406761"/>
      </p:ext>
    </p:extLst>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1331</Words>
  <Application>Microsoft Office PowerPoint</Application>
  <PresentationFormat>Widescreen</PresentationFormat>
  <Paragraphs>70</Paragraphs>
  <Slides>16</Slides>
  <Notes>0</Notes>
  <HiddenSlides>0</HiddenSlides>
  <MMClips>0</MMClips>
  <ScaleCrop>false</ScaleCrop>
  <HeadingPairs>
    <vt:vector size="6" baseType="variant">
      <vt:variant>
        <vt:lpstr>Caratteri utilizzati</vt:lpstr>
      </vt:variant>
      <vt:variant>
        <vt:i4>3</vt:i4>
      </vt:variant>
      <vt:variant>
        <vt:lpstr>Tema</vt:lpstr>
      </vt:variant>
      <vt:variant>
        <vt:i4>1</vt:i4>
      </vt:variant>
      <vt:variant>
        <vt:lpstr>Titoli diapositive</vt:lpstr>
      </vt:variant>
      <vt:variant>
        <vt:i4>16</vt:i4>
      </vt:variant>
    </vt:vector>
  </HeadingPairs>
  <TitlesOfParts>
    <vt:vector size="20" baseType="lpstr">
      <vt:lpstr>Aptos</vt:lpstr>
      <vt:lpstr>Aptos Display</vt:lpstr>
      <vt:lpstr>Arial</vt:lpstr>
      <vt:lpstr>Tema di Office</vt:lpstr>
      <vt:lpstr>DRone trAjectory and CONtrol optlmisAtioN for noise emissions reduction</vt:lpstr>
      <vt:lpstr>08.2025</vt:lpstr>
      <vt:lpstr>25.09.2025</vt:lpstr>
      <vt:lpstr>Presentazione standard di PowerPoint</vt:lpstr>
      <vt:lpstr>30.09.2025 – SAC Results:</vt:lpstr>
      <vt:lpstr>30.09.2025 – Biggest difficulties</vt:lpstr>
      <vt:lpstr>01.10.2025</vt:lpstr>
      <vt:lpstr>02.10.2025</vt:lpstr>
      <vt:lpstr>06.10.2025</vt:lpstr>
      <vt:lpstr>07.10.2025</vt:lpstr>
      <vt:lpstr>28.10.2025</vt:lpstr>
      <vt:lpstr>29.10.2025</vt:lpstr>
      <vt:lpstr>29.10.2025</vt:lpstr>
      <vt:lpstr>29.10.2025</vt:lpstr>
      <vt:lpstr>29.10.2025</vt:lpstr>
      <vt:lpstr>To do for tomorrow:</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Vaiuso Andrea (vaiu)</dc:creator>
  <cp:lastModifiedBy>Vaiuso Andrea (vaiu)</cp:lastModifiedBy>
  <cp:revision>10</cp:revision>
  <dcterms:created xsi:type="dcterms:W3CDTF">2025-09-29T13:25:55Z</dcterms:created>
  <dcterms:modified xsi:type="dcterms:W3CDTF">2025-10-29T15:03:04Z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0d9bad3-6dac-4e9a-89a3-89f3b8d247b2_Enabled">
    <vt:lpwstr>true</vt:lpwstr>
  </property>
  <property fmtid="{D5CDD505-2E9C-101B-9397-08002B2CF9AE}" pid="3" name="MSIP_Label_10d9bad3-6dac-4e9a-89a3-89f3b8d247b2_SetDate">
    <vt:lpwstr>2025-09-29T13:49:56Z</vt:lpwstr>
  </property>
  <property fmtid="{D5CDD505-2E9C-101B-9397-08002B2CF9AE}" pid="4" name="MSIP_Label_10d9bad3-6dac-4e9a-89a3-89f3b8d247b2_Method">
    <vt:lpwstr>Standard</vt:lpwstr>
  </property>
  <property fmtid="{D5CDD505-2E9C-101B-9397-08002B2CF9AE}" pid="5" name="MSIP_Label_10d9bad3-6dac-4e9a-89a3-89f3b8d247b2_Name">
    <vt:lpwstr>10d9bad3-6dac-4e9a-89a3-89f3b8d247b2</vt:lpwstr>
  </property>
  <property fmtid="{D5CDD505-2E9C-101B-9397-08002B2CF9AE}" pid="6" name="MSIP_Label_10d9bad3-6dac-4e9a-89a3-89f3b8d247b2_SiteId">
    <vt:lpwstr>5d1a9f9d-201f-4a10-b983-451cf65cbc1e</vt:lpwstr>
  </property>
  <property fmtid="{D5CDD505-2E9C-101B-9397-08002B2CF9AE}" pid="7" name="MSIP_Label_10d9bad3-6dac-4e9a-89a3-89f3b8d247b2_ActionId">
    <vt:lpwstr>773a05f4-9983-4d37-b62f-63b9af426354</vt:lpwstr>
  </property>
  <property fmtid="{D5CDD505-2E9C-101B-9397-08002B2CF9AE}" pid="8" name="MSIP_Label_10d9bad3-6dac-4e9a-89a3-89f3b8d247b2_ContentBits">
    <vt:lpwstr>0</vt:lpwstr>
  </property>
  <property fmtid="{D5CDD505-2E9C-101B-9397-08002B2CF9AE}" pid="9" name="MSIP_Label_10d9bad3-6dac-4e9a-89a3-89f3b8d247b2_Tag">
    <vt:lpwstr>10, 3, 0, 1</vt:lpwstr>
  </property>
</Properties>
</file>