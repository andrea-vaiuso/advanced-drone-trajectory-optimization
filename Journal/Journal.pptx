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80ACBA-8129-E9C0-CA81-E8C1D8BF60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F410AE9-247B-02F5-17F3-659F1359FB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CDAEC21-18DB-188E-9C86-CBBC76746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01/10/2025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C516941-8B80-8E17-0852-0697CE7D9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1F89DD3-4D24-1D68-7F98-A4451A2D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25192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FB2099-36B1-C1DC-F25F-21993C2D1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EDD5258-B12A-31BC-4637-3446A79D5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9A3B22A-DCB8-CC11-7950-9A912879B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01/10/2025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B52B857-FF94-DB46-9440-8A7BE1737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9F97CC5-1484-6E4A-4352-92D4E5011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6156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725E47-B501-C91C-5F6A-AFB3EC3F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451AD81-6853-BD66-F4DB-2AD332446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0BB9AAF-DAF3-1E78-AE98-B815DF422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01/10/2025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A55752E-7DDE-6ADF-ACD4-0FEE59C3C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95AC8D-8E46-072D-EA9E-E3261ED3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5814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7E643F-BDB2-D15A-44AF-47082DD19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881F24-6648-4881-F36B-BAE35278A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BAF53B6-7CEF-C710-2936-24A0B34EB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826FBCB-162A-013D-F45C-DC636AAEA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01/10/2025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AE4F57E-9A88-19AA-3A42-B84C52046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E8C8DCE-8701-9FD8-DDFD-B4521E9B5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04387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F86573-2B85-C397-4F26-2B7A8CE54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7F54195-29C3-0A6E-E7B1-8D54C280C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8F0018A-239D-CC0D-DA44-88079D0E7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A496BFC6-2B35-4900-DC7E-D69848F3B3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E6D0EF2-8851-F3B3-9177-79369D5CD5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0743C59-F10B-C750-03EC-A2B7FEADF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01/10/2025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806AC1C-7288-9FC1-EBB8-5F578C8E4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411FA266-B0F9-3E96-1FA1-174C73ACC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8794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CE0E04-8310-4B43-269A-399CF18D9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0FE1F23-D057-3CD0-0017-EA22A54C7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01/10/2025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23D15DD-351F-FBDB-7B5A-A106AB57E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2A6003F-257A-DB02-63A4-E0647F240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18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CCD6976-14BF-AD65-3239-1489B5A7D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01/10/2025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F7F3C09C-33CE-35E2-DAF7-B97BEF79B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6D47E8B-C5B9-2B6B-21B2-F4FC3447C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50495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745399-E1CE-EA8C-02C1-717C6ADC9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4BD85B-D1BB-0DA6-3E5C-5777B343E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A0D2DA3-210B-6996-5309-6F6AD435D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D3F6977-6C21-E28B-84D5-BB59BD8CE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01/10/2025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E1C4B10-0707-E92A-E97B-3964DC0F3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EA085E5-BE90-DAF4-3332-9F384A82F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7575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5D6475-FBB2-9DE8-C9E3-67517A3FF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2883965C-5E61-D408-3784-EDE832217D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2BE007-00D8-562F-EB71-AF9DCEFFD2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C5F0096-08F0-12B3-1597-CDEA62D2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01/10/2025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74870CE-DD09-C48A-E205-6E67C58BA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2CEA4FB-3A66-8EA3-EA50-CD506E1B7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8586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06E01A-E002-E736-C04F-C9B162CBA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97E9A60-2DEA-EA27-A8A1-6C4AD51501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4655FD1-90D7-A332-CA21-E4DA5D99B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01/10/2025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895C723-32A7-1DBC-EA3E-EC7044504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926B6E2-C3BB-C188-8DE0-A00D424ED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7413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8EB00CC-090B-DF5E-2A8A-247C86D3D9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4EC7974-6413-E0B0-24B4-18E3535511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95D497-9667-5B3A-1DEC-BD5D250C7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01/10/2025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BDAF3DC-7FF9-6892-0FDC-8CF04CA12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E620739-6BB9-1CF6-DA62-EC64AE32D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5142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A78DEE1A-590B-ED2F-466E-3115C689B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78DF134-C037-B165-9771-EF83E676B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BAD054C-4743-21D9-DC38-A59D2F04A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719BE0-092F-4F2A-B894-44C044C14DA7}" type="datetimeFigureOut">
              <a:rPr lang="it-IT" smtClean="0"/>
              <a:t>01/10/2025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25E94F-3E21-6A89-5AEC-FFB1E2B94E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EAA5F8A-58B1-6197-B04F-2FB6CC454F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547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dpi.com/2079-9292/10/9/999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B188084-229D-0DA2-6724-91E3E2C556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320040"/>
            <a:ext cx="6692827" cy="3892669"/>
          </a:xfrm>
        </p:spPr>
        <p:txBody>
          <a:bodyPr>
            <a:normAutofit/>
          </a:bodyPr>
          <a:lstStyle/>
          <a:p>
            <a:pPr algn="l"/>
            <a:r>
              <a:rPr lang="en-US" sz="5600"/>
              <a:t>DRone trAjectory and CONtrol optlmisAtioN for noise emissions reduction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0471D99-1787-B1EA-96B1-1CA62ED7A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631161"/>
            <a:ext cx="6692827" cy="1569486"/>
          </a:xfrm>
        </p:spPr>
        <p:txBody>
          <a:bodyPr>
            <a:normAutofit/>
          </a:bodyPr>
          <a:lstStyle/>
          <a:p>
            <a:pPr algn="l"/>
            <a:r>
              <a:rPr lang="it-IT" dirty="0" err="1"/>
              <a:t>Findings</a:t>
            </a:r>
            <a:r>
              <a:rPr lang="it-IT" dirty="0"/>
              <a:t> Journal, Andrea Vaiuso</a:t>
            </a:r>
            <a:endParaRPr lang="it-IT"/>
          </a:p>
        </p:txBody>
      </p:sp>
      <p:sp>
        <p:nvSpPr>
          <p:cNvPr id="103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ZHAW Zurich University of Applied Sciences | Green Policy Platform">
            <a:extLst>
              <a:ext uri="{FF2B5EF4-FFF2-40B4-BE49-F238E27FC236}">
                <a16:creationId xmlns:a16="http://schemas.microsoft.com/office/drawing/2014/main" id="{9E2460FC-6DE9-6124-CBE7-A3277D6C0B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75986" y="1231320"/>
            <a:ext cx="1207125" cy="1659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8606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511B45-1AF4-E972-5D78-4700EE864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08.2025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71F4DC-5C59-E872-9444-BF5D8C428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437" y="1585435"/>
            <a:ext cx="4698769" cy="463838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GWO and PSO have been successfully implemented in drone trajectory optimization. The setting is a 1000x1000m parametrized world, with 10x10m grid sampling for SPL receiver calculation. The drone can move in the continuous space.</a:t>
            </a:r>
          </a:p>
          <a:p>
            <a:r>
              <a:rPr lang="it-IT" dirty="0" err="1"/>
              <a:t>Simplification</a:t>
            </a:r>
            <a:r>
              <a:rPr lang="it-IT" dirty="0"/>
              <a:t> </a:t>
            </a:r>
            <a:r>
              <a:rPr lang="it-IT" dirty="0" err="1"/>
              <a:t>adopted</a:t>
            </a:r>
            <a:r>
              <a:rPr lang="it-IT" dirty="0"/>
              <a:t> to make </a:t>
            </a:r>
            <a:r>
              <a:rPr lang="it-IT" dirty="0" err="1"/>
              <a:t>metaheuristics</a:t>
            </a:r>
            <a:r>
              <a:rPr lang="it-IT" dirty="0"/>
              <a:t> work:</a:t>
            </a:r>
          </a:p>
          <a:p>
            <a:pPr marL="914400" lvl="1" indent="-457200">
              <a:buAutoNum type="arabicPeriod"/>
            </a:pPr>
            <a:r>
              <a:rPr lang="en-US" dirty="0"/>
              <a:t>The trajectory is generated by defining intermediate waypoints between points A and B, which serve as the drone's targets for movement.</a:t>
            </a:r>
          </a:p>
          <a:p>
            <a:pPr marL="914400" lvl="1" indent="-457200">
              <a:buAutoNum type="arabicPeriod"/>
            </a:pPr>
            <a:r>
              <a:rPr lang="en-US" dirty="0"/>
              <a:t>The waypoint coordinates are defined as three-dimensional (x, y, z) perturbations from equidistant basepoints lying on the segment connecting points A and B.</a:t>
            </a:r>
          </a:p>
          <a:p>
            <a:r>
              <a:rPr lang="en-US" dirty="0"/>
              <a:t>The metaheuristics work fine, converge quickly, and they effectively reduce the total cost</a:t>
            </a:r>
          </a:p>
          <a:p>
            <a:r>
              <a:rPr lang="en-US" dirty="0"/>
              <a:t>Maybe exploration should be refined over exploitation, since convergence is “fast” but it remains into suboptimal solutions.</a:t>
            </a:r>
            <a:endParaRPr lang="it-IT" dirty="0"/>
          </a:p>
        </p:txBody>
      </p:sp>
      <p:pic>
        <p:nvPicPr>
          <p:cNvPr id="7" name="Immagine 6" descr="Immagine che contiene testo, schermata, schermo, software">
            <a:extLst>
              <a:ext uri="{FF2B5EF4-FFF2-40B4-BE49-F238E27FC236}">
                <a16:creationId xmlns:a16="http://schemas.microsoft.com/office/drawing/2014/main" id="{42431983-1819-9098-CE86-AF50B35F9F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3926" y="720149"/>
            <a:ext cx="5593149" cy="306028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860BF57C-FB7D-B52B-9AC3-FA80B7A73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927" y="3757644"/>
            <a:ext cx="2928187" cy="273523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3532483-BA86-9AA0-5510-51D6BEC2C5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5364" y="4049486"/>
            <a:ext cx="2931386" cy="2174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906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12C10F-183A-9544-7DF2-355F7E9FD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it-IT" dirty="0"/>
              <a:t>A first </a:t>
            </a:r>
            <a:r>
              <a:rPr lang="it-IT" dirty="0" err="1"/>
              <a:t>implementation</a:t>
            </a:r>
            <a:r>
              <a:rPr lang="it-IT" dirty="0"/>
              <a:t> of DRL (SAC) </a:t>
            </a:r>
            <a:r>
              <a:rPr lang="it-IT" dirty="0" err="1"/>
              <a:t>has</a:t>
            </a:r>
            <a:r>
              <a:rPr lang="it-IT" dirty="0"/>
              <a:t> </a:t>
            </a:r>
            <a:r>
              <a:rPr lang="it-IT" dirty="0" err="1"/>
              <a:t>been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. </a:t>
            </a:r>
          </a:p>
          <a:p>
            <a:r>
              <a:rPr lang="it-IT" dirty="0"/>
              <a:t>The </a:t>
            </a:r>
            <a:r>
              <a:rPr lang="it-IT" dirty="0" err="1"/>
              <a:t>environment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set </a:t>
            </a:r>
            <a:r>
              <a:rPr lang="it-IT" dirty="0" err="1"/>
              <a:t>as</a:t>
            </a:r>
            <a:r>
              <a:rPr lang="it-IT" dirty="0"/>
              <a:t> following:</a:t>
            </a:r>
          </a:p>
          <a:p>
            <a:pPr lvl="1"/>
            <a:r>
              <a:rPr lang="en-US" b="1" dirty="0"/>
              <a:t>State (observation) vector</a:t>
            </a:r>
            <a:r>
              <a:rPr lang="en-US" dirty="0"/>
              <a:t> – each step exposes the drone’s full simulated state</a:t>
            </a:r>
          </a:p>
          <a:p>
            <a:pPr lvl="1"/>
            <a:r>
              <a:rPr lang="en-US" b="1" dirty="0"/>
              <a:t>Action space</a:t>
            </a:r>
            <a:r>
              <a:rPr lang="en-US" dirty="0"/>
              <a:t> – actions describe perturbations around reference points sampled along the straight start </a:t>
            </a:r>
          </a:p>
          <a:p>
            <a:pPr lvl="2"/>
            <a:r>
              <a:rPr lang="en-US" dirty="0"/>
              <a:t>Per-step actions are clipped against both global bounds and waypoint-specific limits that reuse the metaheuristic bound builders, and they always stay inside the world cube before being converted to absolute waypoints with a commanded speed.</a:t>
            </a:r>
          </a:p>
          <a:p>
            <a:pPr lvl="2"/>
            <a:r>
              <a:rPr lang="en-US" dirty="0"/>
              <a:t>An additional gating dimension lets the SAC policy terminate waypoint proposal early; the environment respects that signal via a configurable threshold, finishing the episode without adding another waypoint.</a:t>
            </a:r>
          </a:p>
          <a:p>
            <a:pPr lvl="2"/>
            <a:r>
              <a:rPr lang="en-US" dirty="0"/>
              <a:t>Each proposed waypoint is immediately simulated as a single-leg flight: the first segment uses the initial state and later legs continue seamlessly; when an episode ends (goal reached, budget exhausted, or agent stops), the environment appends the real target waypoint and replays the terminal leg.</a:t>
            </a:r>
          </a:p>
          <a:p>
            <a:pPr lvl="2"/>
            <a:r>
              <a:rPr lang="en-US" dirty="0"/>
              <a:t>Stored trajectories are always in absolute coordinates.</a:t>
            </a:r>
          </a:p>
          <a:p>
            <a:pPr lvl="1"/>
            <a:r>
              <a:rPr lang="en-US" b="1" dirty="0"/>
              <a:t>Baseline episode</a:t>
            </a:r>
            <a:r>
              <a:rPr lang="en-US" dirty="0"/>
              <a:t> – a helper can be invoked to log the zero-waypoint straight-line flight</a:t>
            </a:r>
            <a:endParaRPr lang="it-IT" dirty="0"/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87B624EA-1EED-8050-E9D6-DFCACA42F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it-IT" dirty="0"/>
              <a:t>25.09.2025</a:t>
            </a:r>
          </a:p>
        </p:txBody>
      </p:sp>
    </p:spTree>
    <p:extLst>
      <p:ext uri="{BB962C8B-B14F-4D97-AF65-F5344CB8AC3E}">
        <p14:creationId xmlns:p14="http://schemas.microsoft.com/office/powerpoint/2010/main" val="2715143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3438B8-CCC9-1A7E-312E-C977B78E0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713064"/>
            <a:ext cx="6036578" cy="5463899"/>
          </a:xfrm>
        </p:spPr>
        <p:txBody>
          <a:bodyPr>
            <a:normAutofit fontScale="85000" lnSpcReduction="10000"/>
          </a:bodyPr>
          <a:lstStyle/>
          <a:p>
            <a:r>
              <a:rPr lang="it-IT" dirty="0"/>
              <a:t>First </a:t>
            </a:r>
            <a:r>
              <a:rPr lang="it-IT" dirty="0" err="1"/>
              <a:t>results</a:t>
            </a:r>
            <a:r>
              <a:rPr lang="it-IT" dirty="0"/>
              <a:t> show the agent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converging</a:t>
            </a:r>
            <a:r>
              <a:rPr lang="it-IT" dirty="0"/>
              <a:t> </a:t>
            </a:r>
            <a:r>
              <a:rPr lang="it-IT" dirty="0" err="1"/>
              <a:t>quickly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beginning</a:t>
            </a:r>
            <a:r>
              <a:rPr lang="it-IT" dirty="0"/>
              <a:t>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immediately</a:t>
            </a:r>
            <a:r>
              <a:rPr lang="it-IT" dirty="0"/>
              <a:t> </a:t>
            </a:r>
            <a:r>
              <a:rPr lang="it-IT" dirty="0" err="1"/>
              <a:t>stops</a:t>
            </a:r>
            <a:r>
              <a:rPr lang="it-IT" dirty="0"/>
              <a:t>. </a:t>
            </a:r>
            <a:r>
              <a:rPr lang="it-IT" dirty="0" err="1"/>
              <a:t>Probably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needed</a:t>
            </a:r>
            <a:r>
              <a:rPr lang="it-IT" dirty="0"/>
              <a:t> to be </a:t>
            </a:r>
            <a:r>
              <a:rPr lang="it-IT" dirty="0" err="1"/>
              <a:t>tuned</a:t>
            </a:r>
            <a:r>
              <a:rPr lang="it-IT" dirty="0"/>
              <a:t>/</a:t>
            </a:r>
            <a:r>
              <a:rPr lang="it-IT" dirty="0" err="1"/>
              <a:t>exploration</a:t>
            </a:r>
            <a:r>
              <a:rPr lang="it-IT" dirty="0"/>
              <a:t> </a:t>
            </a:r>
            <a:r>
              <a:rPr lang="it-IT" dirty="0" err="1"/>
              <a:t>needs</a:t>
            </a:r>
            <a:r>
              <a:rPr lang="it-IT" dirty="0"/>
              <a:t> to be </a:t>
            </a:r>
            <a:r>
              <a:rPr lang="it-IT" dirty="0" err="1"/>
              <a:t>increased</a:t>
            </a:r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be </a:t>
            </a:r>
            <a:r>
              <a:rPr lang="it-IT" dirty="0" err="1"/>
              <a:t>formulated</a:t>
            </a:r>
            <a:r>
              <a:rPr lang="it-IT" dirty="0"/>
              <a:t> in </a:t>
            </a:r>
            <a:r>
              <a:rPr lang="it-IT" dirty="0" err="1"/>
              <a:t>another</a:t>
            </a:r>
            <a:r>
              <a:rPr lang="it-IT" dirty="0"/>
              <a:t> way: The action </a:t>
            </a:r>
            <a:r>
              <a:rPr lang="it-IT" dirty="0" err="1"/>
              <a:t>could</a:t>
            </a:r>
            <a:r>
              <a:rPr lang="it-IT" dirty="0"/>
              <a:t> set the position of the </a:t>
            </a:r>
            <a:r>
              <a:rPr lang="it-IT" dirty="0" err="1"/>
              <a:t>dynamic</a:t>
            </a:r>
            <a:r>
              <a:rPr lang="it-IT" dirty="0"/>
              <a:t> target </a:t>
            </a:r>
            <a:r>
              <a:rPr lang="it-IT" dirty="0" err="1"/>
              <a:t>every</a:t>
            </a:r>
            <a:r>
              <a:rPr lang="it-IT" dirty="0"/>
              <a:t> x steps. </a:t>
            </a:r>
            <a:r>
              <a:rPr lang="it-IT" dirty="0" err="1"/>
              <a:t>Reward</a:t>
            </a:r>
            <a:r>
              <a:rPr lang="it-IT" dirty="0"/>
              <a:t> can be </a:t>
            </a:r>
            <a:r>
              <a:rPr lang="it-IT" dirty="0" err="1"/>
              <a:t>calculated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on the cost </a:t>
            </a:r>
            <a:r>
              <a:rPr lang="it-IT" dirty="0" err="1"/>
              <a:t>function</a:t>
            </a:r>
            <a:r>
              <a:rPr lang="it-IT" dirty="0"/>
              <a:t> and the </a:t>
            </a:r>
            <a:r>
              <a:rPr lang="it-IT" dirty="0" err="1"/>
              <a:t>distance</a:t>
            </a:r>
            <a:r>
              <a:rPr lang="it-IT" dirty="0"/>
              <a:t> from the target.</a:t>
            </a:r>
          </a:p>
          <a:p>
            <a:r>
              <a:rPr lang="it-IT" dirty="0"/>
              <a:t>A </a:t>
            </a:r>
            <a:r>
              <a:rPr lang="it-IT" dirty="0" err="1"/>
              <a:t>main</a:t>
            </a:r>
            <a:r>
              <a:rPr lang="it-IT" dirty="0"/>
              <a:t> </a:t>
            </a:r>
            <a:r>
              <a:rPr lang="it-IT" dirty="0" err="1"/>
              <a:t>finding</a:t>
            </a:r>
            <a:r>
              <a:rPr lang="it-IT" dirty="0"/>
              <a:t>: a big </a:t>
            </a:r>
            <a:r>
              <a:rPr lang="it-IT" dirty="0" err="1"/>
              <a:t>difficulty</a:t>
            </a:r>
            <a:r>
              <a:rPr lang="it-IT" dirty="0"/>
              <a:t> with RL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formulation</a:t>
            </a:r>
            <a:r>
              <a:rPr lang="it-IT" dirty="0"/>
              <a:t>. </a:t>
            </a:r>
            <a:r>
              <a:rPr lang="it-IT" dirty="0" err="1"/>
              <a:t>It</a:t>
            </a:r>
            <a:r>
              <a:rPr lang="it-IT" dirty="0"/>
              <a:t> can be </a:t>
            </a:r>
            <a:r>
              <a:rPr lang="it-IT" dirty="0" err="1"/>
              <a:t>formulated</a:t>
            </a:r>
            <a:r>
              <a:rPr lang="it-IT" dirty="0"/>
              <a:t> in </a:t>
            </a:r>
            <a:r>
              <a:rPr lang="it-IT" dirty="0" err="1"/>
              <a:t>very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ways and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cannot</a:t>
            </a:r>
            <a:r>
              <a:rPr lang="it-IT" dirty="0"/>
              <a:t> </a:t>
            </a:r>
            <a:r>
              <a:rPr lang="it-IT" dirty="0" err="1"/>
              <a:t>say</a:t>
            </a:r>
            <a:r>
              <a:rPr lang="it-IT" dirty="0"/>
              <a:t>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best.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need</a:t>
            </a:r>
            <a:r>
              <a:rPr lang="it-IT" dirty="0"/>
              <a:t> literature review on </a:t>
            </a:r>
            <a:r>
              <a:rPr lang="it-IT" dirty="0" err="1"/>
              <a:t>that</a:t>
            </a:r>
            <a:r>
              <a:rPr lang="it-IT" dirty="0"/>
              <a:t>.</a:t>
            </a:r>
          </a:p>
          <a:p>
            <a:r>
              <a:rPr lang="it-IT" dirty="0" err="1"/>
              <a:t>Another</a:t>
            </a:r>
            <a:r>
              <a:rPr lang="it-IT" dirty="0"/>
              <a:t> </a:t>
            </a:r>
            <a:r>
              <a:rPr lang="it-IT" dirty="0" err="1"/>
              <a:t>difficulty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finding</a:t>
            </a:r>
            <a:r>
              <a:rPr lang="it-IT" dirty="0"/>
              <a:t> a rule to set the gain to the cost </a:t>
            </a:r>
            <a:r>
              <a:rPr lang="it-IT" dirty="0" err="1"/>
              <a:t>function</a:t>
            </a:r>
            <a:endParaRPr lang="it-IT" dirty="0"/>
          </a:p>
        </p:txBody>
      </p:sp>
      <p:pic>
        <p:nvPicPr>
          <p:cNvPr id="8" name="Immagine 7" descr="Immagine che contiene testo, line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4B42231E-B469-15C6-7010-F554B48D12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839" y="636525"/>
            <a:ext cx="4733318" cy="3160028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CF95144F-74F2-0627-1021-4E142E0E77E7}"/>
              </a:ext>
            </a:extLst>
          </p:cNvPr>
          <p:cNvSpPr txBox="1"/>
          <p:nvPr/>
        </p:nvSpPr>
        <p:spPr>
          <a:xfrm>
            <a:off x="7654748" y="3737378"/>
            <a:ext cx="2850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 err="1"/>
              <a:t>Avg</a:t>
            </a:r>
            <a:r>
              <a:rPr lang="de-CH" dirty="0"/>
              <a:t> </a:t>
            </a:r>
            <a:r>
              <a:rPr lang="de-CH" dirty="0" err="1"/>
              <a:t>episode</a:t>
            </a:r>
            <a:r>
              <a:rPr lang="de-CH" dirty="0"/>
              <a:t> time: 66.034s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14921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27D83F-8C7B-A1A7-0FEC-6B9397C16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30.09.2025 – SAC </a:t>
            </a:r>
            <a:r>
              <a:rPr lang="it-IT" dirty="0" err="1"/>
              <a:t>Results</a:t>
            </a:r>
            <a:r>
              <a:rPr lang="it-IT" dirty="0"/>
              <a:t>:</a:t>
            </a:r>
          </a:p>
        </p:txBody>
      </p:sp>
      <p:pic>
        <p:nvPicPr>
          <p:cNvPr id="5" name="Immagine 4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807C1F37-88A2-C773-EAC7-CD3D57537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909" y="1537459"/>
            <a:ext cx="6705962" cy="366915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A5762B4-FB11-CE8C-E453-C22F4FE95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3550" y="192610"/>
            <a:ext cx="3509203" cy="332701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3CEF7CA-01BB-9A46-66C6-18FE28A9A5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2660" y="3656536"/>
            <a:ext cx="3430093" cy="276381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A4D92BC-8B69-27F4-43D6-F46F294E668A}"/>
              </a:ext>
            </a:extLst>
          </p:cNvPr>
          <p:cNvSpPr txBox="1"/>
          <p:nvPr/>
        </p:nvSpPr>
        <p:spPr>
          <a:xfrm>
            <a:off x="699247" y="5288272"/>
            <a:ext cx="3209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Total time: </a:t>
            </a:r>
            <a:r>
              <a:rPr lang="de-CH" dirty="0" err="1"/>
              <a:t>around</a:t>
            </a:r>
            <a:r>
              <a:rPr lang="de-CH" dirty="0"/>
              <a:t> 5h (315min)</a:t>
            </a:r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3E19332-7508-B0F7-0871-2B27B03F8BDC}"/>
              </a:ext>
            </a:extLst>
          </p:cNvPr>
          <p:cNvSpPr txBox="1"/>
          <p:nvPr/>
        </p:nvSpPr>
        <p:spPr>
          <a:xfrm>
            <a:off x="699247" y="5753586"/>
            <a:ext cx="6342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It</a:t>
            </a:r>
            <a:r>
              <a:rPr lang="de-CH" dirty="0"/>
              <a:t> </a:t>
            </a:r>
            <a:r>
              <a:rPr lang="de-CH" dirty="0" err="1"/>
              <a:t>would</a:t>
            </a:r>
            <a:r>
              <a:rPr lang="de-CH" dirty="0"/>
              <a:t> </a:t>
            </a:r>
            <a:r>
              <a:rPr lang="de-CH" dirty="0" err="1"/>
              <a:t>maybe</a:t>
            </a:r>
            <a:r>
              <a:rPr lang="de-CH" dirty="0"/>
              <a:t> </a:t>
            </a:r>
            <a:r>
              <a:rPr lang="de-CH" dirty="0" err="1"/>
              <a:t>make</a:t>
            </a:r>
            <a:r>
              <a:rPr lang="de-CH" dirty="0"/>
              <a:t> sense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provide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algorithm</a:t>
            </a:r>
            <a:r>
              <a:rPr lang="de-CH" dirty="0"/>
              <a:t> an initial human </a:t>
            </a:r>
            <a:r>
              <a:rPr lang="de-CH" dirty="0" err="1"/>
              <a:t>guess</a:t>
            </a:r>
            <a:r>
              <a:rPr lang="de-CH" dirty="0"/>
              <a:t>?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2215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885924-DD14-C22B-48A9-047F1AA5E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30.09.2025 – </a:t>
            </a:r>
            <a:r>
              <a:rPr lang="it-IT" dirty="0" err="1"/>
              <a:t>Biggest</a:t>
            </a:r>
            <a:r>
              <a:rPr lang="it-IT" dirty="0"/>
              <a:t> </a:t>
            </a:r>
            <a:r>
              <a:rPr lang="it-IT" dirty="0" err="1"/>
              <a:t>difficulties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88D0D3E-B561-E673-1690-EEF374426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 err="1"/>
              <a:t>Problem</a:t>
            </a:r>
            <a:r>
              <a:rPr lang="it-IT" b="1" dirty="0"/>
              <a:t>: </a:t>
            </a:r>
            <a:r>
              <a:rPr lang="it-IT" dirty="0"/>
              <a:t>RL can be </a:t>
            </a:r>
            <a:r>
              <a:rPr lang="it-IT" dirty="0" err="1"/>
              <a:t>implemented</a:t>
            </a:r>
            <a:r>
              <a:rPr lang="it-IT" dirty="0"/>
              <a:t>,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it’s</a:t>
            </a:r>
            <a:r>
              <a:rPr lang="it-IT" dirty="0"/>
              <a:t> reliability </a:t>
            </a:r>
            <a:r>
              <a:rPr lang="it-IT" dirty="0" err="1"/>
              <a:t>higly</a:t>
            </a:r>
            <a:r>
              <a:rPr lang="it-IT" dirty="0"/>
              <a:t> </a:t>
            </a:r>
            <a:r>
              <a:rPr lang="it-IT" dirty="0" err="1"/>
              <a:t>depends</a:t>
            </a:r>
            <a:r>
              <a:rPr lang="it-IT" dirty="0"/>
              <a:t> on </a:t>
            </a:r>
            <a:r>
              <a:rPr lang="it-IT" dirty="0" err="1"/>
              <a:t>hyperparameter</a:t>
            </a:r>
            <a:r>
              <a:rPr lang="it-IT" dirty="0"/>
              <a:t> tuning. </a:t>
            </a:r>
            <a:r>
              <a:rPr lang="it-IT" b="1" dirty="0" err="1"/>
              <a:t>Possible</a:t>
            </a:r>
            <a:r>
              <a:rPr lang="it-IT" b="1" dirty="0"/>
              <a:t> </a:t>
            </a:r>
            <a:r>
              <a:rPr lang="it-IT" b="1" dirty="0" err="1"/>
              <a:t>solution</a:t>
            </a:r>
            <a:r>
              <a:rPr lang="it-IT" b="1" dirty="0"/>
              <a:t>:</a:t>
            </a:r>
            <a:r>
              <a:rPr lang="it-IT" dirty="0"/>
              <a:t> </a:t>
            </a:r>
            <a:r>
              <a:rPr lang="it-IT" dirty="0" err="1"/>
              <a:t>Optimization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be </a:t>
            </a:r>
            <a:r>
              <a:rPr lang="it-IT" dirty="0" err="1"/>
              <a:t>considered</a:t>
            </a:r>
            <a:r>
              <a:rPr lang="it-IT" dirty="0"/>
              <a:t>, like </a:t>
            </a:r>
            <a:r>
              <a:rPr lang="it-IT" dirty="0" err="1"/>
              <a:t>Optuna</a:t>
            </a:r>
            <a:r>
              <a:rPr lang="it-IT" dirty="0"/>
              <a:t>.</a:t>
            </a:r>
          </a:p>
          <a:p>
            <a:r>
              <a:rPr lang="it-IT" b="1" dirty="0" err="1"/>
              <a:t>Problem</a:t>
            </a:r>
            <a:r>
              <a:rPr lang="it-IT" b="1" dirty="0"/>
              <a:t>: </a:t>
            </a:r>
            <a:r>
              <a:rPr lang="it-IT" dirty="0" err="1"/>
              <a:t>There</a:t>
            </a:r>
            <a:r>
              <a:rPr lang="it-IT" dirty="0"/>
              <a:t> are no </a:t>
            </a:r>
            <a:r>
              <a:rPr lang="it-IT" dirty="0" err="1"/>
              <a:t>clue</a:t>
            </a:r>
            <a:r>
              <a:rPr lang="it-IT" dirty="0"/>
              <a:t> on </a:t>
            </a:r>
            <a:r>
              <a:rPr lang="it-IT" dirty="0" err="1"/>
              <a:t>how</a:t>
            </a:r>
            <a:r>
              <a:rPr lang="it-IT" dirty="0"/>
              <a:t> to set cost </a:t>
            </a:r>
            <a:r>
              <a:rPr lang="it-IT" dirty="0" err="1"/>
              <a:t>function</a:t>
            </a:r>
            <a:r>
              <a:rPr lang="it-IT" dirty="0"/>
              <a:t> weight to </a:t>
            </a:r>
            <a:r>
              <a:rPr lang="it-IT" dirty="0" err="1"/>
              <a:t>mimic</a:t>
            </a:r>
            <a:r>
              <a:rPr lang="it-IT" dirty="0"/>
              <a:t> the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necessities</a:t>
            </a:r>
            <a:r>
              <a:rPr lang="it-IT" dirty="0"/>
              <a:t>.</a:t>
            </a:r>
          </a:p>
          <a:p>
            <a:r>
              <a:rPr lang="it-IT" b="1" dirty="0" err="1"/>
              <a:t>Problem</a:t>
            </a:r>
            <a:r>
              <a:rPr lang="it-IT" b="1" dirty="0"/>
              <a:t>: </a:t>
            </a:r>
            <a:r>
              <a:rPr lang="it-IT" dirty="0" err="1"/>
              <a:t>Simulation</a:t>
            </a:r>
            <a:r>
              <a:rPr lang="it-IT" dirty="0"/>
              <a:t>-to-reality gap. </a:t>
            </a:r>
            <a:r>
              <a:rPr lang="it-IT" b="1" dirty="0" err="1"/>
              <a:t>Possible</a:t>
            </a:r>
            <a:r>
              <a:rPr lang="it-IT" b="1" dirty="0"/>
              <a:t> </a:t>
            </a:r>
            <a:r>
              <a:rPr lang="it-IT" b="1" dirty="0" err="1"/>
              <a:t>solution</a:t>
            </a:r>
            <a:r>
              <a:rPr lang="it-IT" b="1" dirty="0"/>
              <a:t>: </a:t>
            </a:r>
            <a:r>
              <a:rPr lang="en-US" dirty="0"/>
              <a:t>Develop better </a:t>
            </a:r>
            <a:r>
              <a:rPr lang="en-US" i="1" dirty="0">
                <a:hlinkClick r:id="rId2"/>
              </a:rPr>
              <a:t>sim-to-real transfer </a:t>
            </a:r>
            <a:r>
              <a:rPr lang="en-US" dirty="0">
                <a:hlinkClick r:id="rId2"/>
              </a:rPr>
              <a:t>methods</a:t>
            </a:r>
            <a:endParaRPr lang="en-US" dirty="0"/>
          </a:p>
          <a:p>
            <a:r>
              <a:rPr lang="en-US" b="1" dirty="0"/>
              <a:t>Problem:</a:t>
            </a:r>
            <a:r>
              <a:rPr lang="en-US" dirty="0"/>
              <a:t> The agent cannot generalize in multiple maps. It’s logically </a:t>
            </a:r>
            <a:r>
              <a:rPr lang="en-US" dirty="0" err="1"/>
              <a:t>nosense</a:t>
            </a:r>
            <a:r>
              <a:rPr lang="en-US" dirty="0"/>
              <a:t> thinking that it could just following this procedure or similar ones.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3090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BC1B2C-6698-C27E-DCE4-3BC75E894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01.10.2025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E3B6A8-BB0E-D0F1-91A0-79DE6DB14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019365" cy="1854387"/>
          </a:xfrm>
        </p:spPr>
        <p:txBody>
          <a:bodyPr>
            <a:normAutofit fontScale="92500" lnSpcReduction="10000"/>
          </a:bodyPr>
          <a:lstStyle/>
          <a:p>
            <a:r>
              <a:rPr lang="it-IT" dirty="0"/>
              <a:t>New </a:t>
            </a:r>
            <a:r>
              <a:rPr lang="it-IT" dirty="0" err="1"/>
              <a:t>results</a:t>
            </a:r>
            <a:r>
              <a:rPr lang="it-IT" dirty="0"/>
              <a:t> from SAC </a:t>
            </a:r>
            <a:r>
              <a:rPr lang="it-IT" dirty="0" err="1"/>
              <a:t>when</a:t>
            </a:r>
            <a:r>
              <a:rPr lang="it-IT" dirty="0"/>
              <a:t> </a:t>
            </a:r>
            <a:r>
              <a:rPr lang="it-IT" dirty="0" err="1"/>
              <a:t>applying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the «</a:t>
            </a:r>
            <a:r>
              <a:rPr lang="it-IT" dirty="0" err="1"/>
              <a:t>tricks</a:t>
            </a:r>
            <a:r>
              <a:rPr lang="it-IT" dirty="0"/>
              <a:t>»</a:t>
            </a:r>
          </a:p>
          <a:p>
            <a:r>
              <a:rPr lang="it-IT" dirty="0"/>
              <a:t>The </a:t>
            </a:r>
            <a:r>
              <a:rPr lang="it-IT" dirty="0" err="1"/>
              <a:t>trajectory</a:t>
            </a:r>
            <a:r>
              <a:rPr lang="it-IT" dirty="0"/>
              <a:t> </a:t>
            </a:r>
            <a:r>
              <a:rPr lang="it-IT" dirty="0" err="1"/>
              <a:t>still</a:t>
            </a:r>
            <a:r>
              <a:rPr lang="it-IT" dirty="0"/>
              <a:t> </a:t>
            </a:r>
            <a:r>
              <a:rPr lang="it-IT" dirty="0" err="1"/>
              <a:t>doesn’t</a:t>
            </a:r>
            <a:r>
              <a:rPr lang="it-IT" dirty="0"/>
              <a:t> look like the best. </a:t>
            </a:r>
            <a:r>
              <a:rPr lang="it-IT" dirty="0" err="1"/>
              <a:t>It’s</a:t>
            </a:r>
            <a:r>
              <a:rPr lang="it-IT" dirty="0"/>
              <a:t> the cost </a:t>
            </a:r>
            <a:r>
              <a:rPr lang="it-IT" dirty="0" err="1"/>
              <a:t>function</a:t>
            </a:r>
            <a:r>
              <a:rPr lang="it-IT" dirty="0"/>
              <a:t> </a:t>
            </a:r>
            <a:r>
              <a:rPr lang="it-IT" dirty="0" err="1"/>
              <a:t>definition</a:t>
            </a:r>
            <a:r>
              <a:rPr lang="it-IT" dirty="0"/>
              <a:t>? Or the agent </a:t>
            </a:r>
            <a:r>
              <a:rPr lang="it-IT" dirty="0" err="1"/>
              <a:t>parameters</a:t>
            </a:r>
            <a:r>
              <a:rPr lang="it-IT" dirty="0"/>
              <a:t>?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DDFBB93-10AB-76C7-AD59-134ED799C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3639" y="121431"/>
            <a:ext cx="3623413" cy="3495828"/>
          </a:xfrm>
          <a:prstGeom prst="rect">
            <a:avLst/>
          </a:prstGeom>
        </p:spPr>
      </p:pic>
      <p:pic>
        <p:nvPicPr>
          <p:cNvPr id="8" name="Immagine 7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7B87D59F-152A-7013-6363-727D83FEA5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4923" y="3751640"/>
            <a:ext cx="5214478" cy="2853091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A84F708B-D05D-4D1F-0C28-C33B926CF4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9839" y="3751640"/>
            <a:ext cx="3623413" cy="2848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7430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609</Words>
  <Application>Microsoft Office PowerPoint</Application>
  <PresentationFormat>Widescreen</PresentationFormat>
  <Paragraphs>35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di Office</vt:lpstr>
      <vt:lpstr>DRone trAjectory and CONtrol optlmisAtioN for noise emissions reduction</vt:lpstr>
      <vt:lpstr>08.2025</vt:lpstr>
      <vt:lpstr>25.09.2025</vt:lpstr>
      <vt:lpstr>Presentazione standard di PowerPoint</vt:lpstr>
      <vt:lpstr>30.09.2025 – SAC Results:</vt:lpstr>
      <vt:lpstr>30.09.2025 – Biggest difficulties</vt:lpstr>
      <vt:lpstr>01.10.2025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Vaiuso Andrea (vaiu)</dc:creator>
  <cp:lastModifiedBy>Vaiuso Andrea (vaiu)</cp:lastModifiedBy>
  <cp:revision>5</cp:revision>
  <dcterms:created xsi:type="dcterms:W3CDTF">2025-09-29T13:25:55Z</dcterms:created>
  <dcterms:modified xsi:type="dcterms:W3CDTF">2025-10-01T06:33:04Z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2025-09-29T13:49:56Z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773a05f4-9983-4d37-b62f-63b9af426354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